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Calibri (MS)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Garamond Bold" panose="02020804030307010803" pitchFamily="18" charset="0"/>
      <p:regular r:id="rId15"/>
      <p:bold r:id="rId16"/>
    </p:embeddedFont>
    <p:embeddedFont>
      <p:font typeface="Times New Roman Bold" panose="02020803070505020304" pitchFamily="18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20" y="-12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microsoft.com/office/2016/11/relationships/changesInfo" Target="changesInfos/changesInfo1.xml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singh" userId="342123610e89ff7a" providerId="LiveId" clId="{2C41C64F-DF75-42CC-B598-01D4397E61AF}"/>
    <pc:docChg chg="modSld">
      <pc:chgData name="Nikhil singh" userId="342123610e89ff7a" providerId="LiveId" clId="{2C41C64F-DF75-42CC-B598-01D4397E61AF}" dt="2026-09-21T10:33:08.289" v="4" actId="120"/>
      <pc:docMkLst>
        <pc:docMk/>
      </pc:docMkLst>
      <pc:sldChg chg="modSp mod">
        <pc:chgData name="Nikhil singh" userId="342123610e89ff7a" providerId="LiveId" clId="{2C41C64F-DF75-42CC-B598-01D4397E61AF}" dt="2026-09-21T10:33:08.289" v="4" actId="120"/>
        <pc:sldMkLst>
          <pc:docMk/>
          <pc:sldMk cId="0" sldId="258"/>
        </pc:sldMkLst>
        <pc:graphicFrameChg chg="modGraphic">
          <ac:chgData name="Nikhil singh" userId="342123610e89ff7a" providerId="LiveId" clId="{2C41C64F-DF75-42CC-B598-01D4397E61AF}" dt="2026-09-21T10:33:08.289" v="4" actId="120"/>
          <ac:graphicFrameMkLst>
            <pc:docMk/>
            <pc:sldMk cId="0" sldId="258"/>
            <ac:graphicFrameMk id="19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3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4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3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drift.github.io" TargetMode="External"/><Relationship Id="rId13" Type="http://schemas.openxmlformats.org/officeDocument/2006/relationships/hyperlink" Target="https://www.marinetraffic.com/en/ais/home/centerx:-12.0/centery:25.0/zoom:4" TargetMode="External"/><Relationship Id="rId3" Type="http://schemas.openxmlformats.org/officeDocument/2006/relationships/image" Target="../media/image3.jpeg"/><Relationship Id="rId7" Type="http://schemas.openxmlformats.org/officeDocument/2006/relationships/hyperlink" Target="https://www.mdpi.com/2072-4292/11/15/1762" TargetMode="External"/><Relationship Id="rId12" Type="http://schemas.openxmlformats.org/officeDocument/2006/relationships/hyperlink" Target="https://www.aishub.ne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ciencedirect.com/science/article/abs/pii/S0025326X22003484" TargetMode="External"/><Relationship Id="rId11" Type="http://schemas.openxmlformats.org/officeDocument/2006/relationships/hyperlink" Target="https://marine.copernicus.eu" TargetMode="External"/><Relationship Id="rId5" Type="http://schemas.openxmlformats.org/officeDocument/2006/relationships/hyperlink" Target="https://computersciencejournal.org/wp-content/uploads/10-JCS1684.pdf" TargetMode="External"/><Relationship Id="rId10" Type="http://schemas.openxmlformats.org/officeDocument/2006/relationships/hyperlink" Target="https://earthengine.google.com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www.esa.int/Applications/Observing_the_Earth/Copernicu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86995" y="1347378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037979" y="3402704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6929" y="3317977"/>
            <a:ext cx="11815426" cy="68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0"/>
              </a:lnSpc>
            </a:pPr>
            <a:endParaRPr/>
          </a:p>
          <a:p>
            <a:pPr marL="565512" lvl="1" indent="-282756" algn="just">
              <a:lnSpc>
                <a:spcPts val="6030"/>
              </a:lnSpc>
              <a:buFont typeface="Arial"/>
              <a:buChar char="•"/>
            </a:pPr>
            <a:r>
              <a:rPr lang="en-US" sz="312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SIH26143</a:t>
            </a:r>
          </a:p>
          <a:p>
            <a:pPr marL="565512" lvl="1" indent="-282756" algn="just">
              <a:lnSpc>
                <a:spcPts val="6030"/>
              </a:lnSpc>
              <a:buFont typeface="Arial"/>
              <a:buChar char="•"/>
            </a:pPr>
            <a:r>
              <a:rPr lang="en-US" sz="312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Leveraging satellite imagery to determine oil spills at sea along with AIS data correlations to identify the vessel responsible for the spill.</a:t>
            </a:r>
          </a:p>
          <a:p>
            <a:pPr marL="565512" lvl="1" indent="-282756" algn="just">
              <a:lnSpc>
                <a:spcPts val="6030"/>
              </a:lnSpc>
              <a:buFont typeface="Arial"/>
              <a:buChar char="•"/>
            </a:pPr>
            <a:r>
              <a:rPr lang="en-US" sz="312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Space Technology</a:t>
            </a:r>
          </a:p>
          <a:p>
            <a:pPr marL="565512" lvl="1" indent="-282756" algn="just">
              <a:lnSpc>
                <a:spcPts val="6030"/>
              </a:lnSpc>
              <a:buFont typeface="Arial"/>
              <a:buChar char="•"/>
            </a:pPr>
            <a:r>
              <a:rPr lang="en-US" sz="312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marL="565512" lvl="1" indent="-282756" algn="just">
              <a:lnSpc>
                <a:spcPts val="6030"/>
              </a:lnSpc>
              <a:buFont typeface="Arial"/>
              <a:buChar char="•"/>
            </a:pPr>
            <a:r>
              <a:rPr lang="en-US" sz="312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122818</a:t>
            </a:r>
          </a:p>
          <a:p>
            <a:pPr marL="565512" lvl="1" indent="-282756" algn="just">
              <a:lnSpc>
                <a:spcPts val="6030"/>
              </a:lnSpc>
              <a:buFont typeface="Arial"/>
              <a:buChar char="•"/>
            </a:pPr>
            <a:r>
              <a:rPr lang="en-US" sz="312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ByteCoders.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196143" y="2248"/>
            <a:ext cx="2848760" cy="1345130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873976" y="125160"/>
            <a:ext cx="12239524" cy="681092"/>
            <a:chOff x="0" y="0"/>
            <a:chExt cx="16945585" cy="9429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45578" cy="942969"/>
            </a:xfrm>
            <a:custGeom>
              <a:avLst/>
              <a:gdLst/>
              <a:ahLst/>
              <a:cxnLst/>
              <a:rect l="l" t="t" r="r" b="b"/>
              <a:pathLst>
                <a:path w="16945578" h="942969">
                  <a:moveTo>
                    <a:pt x="0" y="0"/>
                  </a:moveTo>
                  <a:lnTo>
                    <a:pt x="16945578" y="0"/>
                  </a:lnTo>
                  <a:lnTo>
                    <a:pt x="16945578" y="942969"/>
                  </a:lnTo>
                  <a:lnTo>
                    <a:pt x="0" y="9429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403" r="5580" b="-35182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6945585" cy="9620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Satellite–AIS Fusion for Oil-Spill Detection &amp; Investigation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2248"/>
            <a:ext cx="1816495" cy="1184300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92597" y="2248"/>
            <a:ext cx="2752306" cy="1299586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908248" y="2071390"/>
            <a:ext cx="16239101" cy="2316163"/>
            <a:chOff x="0" y="0"/>
            <a:chExt cx="21652134" cy="3088217"/>
          </a:xfrm>
        </p:grpSpPr>
        <p:grpSp>
          <p:nvGrpSpPr>
            <p:cNvPr id="19" name="Group 19"/>
            <p:cNvGrpSpPr/>
            <p:nvPr/>
          </p:nvGrpSpPr>
          <p:grpSpPr>
            <a:xfrm>
              <a:off x="40151" y="25400"/>
              <a:ext cx="3260601" cy="2917198"/>
              <a:chOff x="0" y="0"/>
              <a:chExt cx="644069" cy="57623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44069" cy="576237"/>
              </a:xfrm>
              <a:custGeom>
                <a:avLst/>
                <a:gdLst/>
                <a:ahLst/>
                <a:cxnLst/>
                <a:rect l="l" t="t" r="r" b="b"/>
                <a:pathLst>
                  <a:path w="644069" h="576237">
                    <a:moveTo>
                      <a:pt x="31658" y="0"/>
                    </a:moveTo>
                    <a:lnTo>
                      <a:pt x="612411" y="0"/>
                    </a:lnTo>
                    <a:cubicBezTo>
                      <a:pt x="620807" y="0"/>
                      <a:pt x="628860" y="3335"/>
                      <a:pt x="634797" y="9273"/>
                    </a:cubicBezTo>
                    <a:cubicBezTo>
                      <a:pt x="640734" y="15210"/>
                      <a:pt x="644069" y="23262"/>
                      <a:pt x="644069" y="31658"/>
                    </a:cubicBezTo>
                    <a:lnTo>
                      <a:pt x="644069" y="544578"/>
                    </a:lnTo>
                    <a:cubicBezTo>
                      <a:pt x="644069" y="562063"/>
                      <a:pt x="629895" y="576237"/>
                      <a:pt x="612411" y="576237"/>
                    </a:cubicBezTo>
                    <a:lnTo>
                      <a:pt x="31658" y="576237"/>
                    </a:lnTo>
                    <a:cubicBezTo>
                      <a:pt x="23262" y="576237"/>
                      <a:pt x="15210" y="572901"/>
                      <a:pt x="9273" y="566964"/>
                    </a:cubicBezTo>
                    <a:cubicBezTo>
                      <a:pt x="3335" y="561027"/>
                      <a:pt x="0" y="552975"/>
                      <a:pt x="0" y="544578"/>
                    </a:cubicBezTo>
                    <a:lnTo>
                      <a:pt x="0" y="31658"/>
                    </a:lnTo>
                    <a:cubicBezTo>
                      <a:pt x="0" y="14174"/>
                      <a:pt x="14174" y="0"/>
                      <a:pt x="31658" y="0"/>
                    </a:cubicBezTo>
                    <a:close/>
                  </a:path>
                </a:pathLst>
              </a:custGeom>
              <a:solidFill>
                <a:srgbClr val="FBFCF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9050"/>
                <a:ext cx="644069" cy="5952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0" y="1096649"/>
              <a:ext cx="3099998" cy="361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3"/>
                </a:lnSpc>
                <a:spcBef>
                  <a:spcPct val="0"/>
                </a:spcBef>
              </a:pPr>
              <a:r>
                <a:rPr lang="en-US" sz="1711" b="1">
                  <a:solidFill>
                    <a:srgbClr val="FF31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 DETECT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0659" y="1545167"/>
              <a:ext cx="2959340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2"/>
                </a:lnSpc>
                <a:spcBef>
                  <a:spcPct val="0"/>
                </a:spcBef>
              </a:pPr>
              <a:r>
                <a:rPr lang="en-US" sz="151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Sentinel-1 SAR imagery identifies suspected oil slicks and screens out look-alikes.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4604741" y="25400"/>
              <a:ext cx="3260601" cy="2917198"/>
              <a:chOff x="0" y="0"/>
              <a:chExt cx="644069" cy="57623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44069" cy="576237"/>
              </a:xfrm>
              <a:custGeom>
                <a:avLst/>
                <a:gdLst/>
                <a:ahLst/>
                <a:cxnLst/>
                <a:rect l="l" t="t" r="r" b="b"/>
                <a:pathLst>
                  <a:path w="644069" h="576237">
                    <a:moveTo>
                      <a:pt x="31658" y="0"/>
                    </a:moveTo>
                    <a:lnTo>
                      <a:pt x="612411" y="0"/>
                    </a:lnTo>
                    <a:cubicBezTo>
                      <a:pt x="620807" y="0"/>
                      <a:pt x="628860" y="3335"/>
                      <a:pt x="634797" y="9273"/>
                    </a:cubicBezTo>
                    <a:cubicBezTo>
                      <a:pt x="640734" y="15210"/>
                      <a:pt x="644069" y="23262"/>
                      <a:pt x="644069" y="31658"/>
                    </a:cubicBezTo>
                    <a:lnTo>
                      <a:pt x="644069" y="544578"/>
                    </a:lnTo>
                    <a:cubicBezTo>
                      <a:pt x="644069" y="562063"/>
                      <a:pt x="629895" y="576237"/>
                      <a:pt x="612411" y="576237"/>
                    </a:cubicBezTo>
                    <a:lnTo>
                      <a:pt x="31658" y="576237"/>
                    </a:lnTo>
                    <a:cubicBezTo>
                      <a:pt x="23262" y="576237"/>
                      <a:pt x="15210" y="572901"/>
                      <a:pt x="9273" y="566964"/>
                    </a:cubicBezTo>
                    <a:cubicBezTo>
                      <a:pt x="3335" y="561027"/>
                      <a:pt x="0" y="552975"/>
                      <a:pt x="0" y="544578"/>
                    </a:cubicBezTo>
                    <a:lnTo>
                      <a:pt x="0" y="31658"/>
                    </a:lnTo>
                    <a:cubicBezTo>
                      <a:pt x="0" y="14174"/>
                      <a:pt x="14174" y="0"/>
                      <a:pt x="31658" y="0"/>
                    </a:cubicBezTo>
                    <a:close/>
                  </a:path>
                </a:pathLst>
              </a:custGeom>
              <a:solidFill>
                <a:srgbClr val="FBFCF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19050"/>
                <a:ext cx="644069" cy="5952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4604741" y="1112258"/>
              <a:ext cx="3099998" cy="361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3"/>
                </a:lnSpc>
                <a:spcBef>
                  <a:spcPct val="0"/>
                </a:spcBef>
              </a:pPr>
              <a:r>
                <a:rPr lang="en-US" sz="1711" b="1">
                  <a:solidFill>
                    <a:srgbClr val="FF31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2.CHARACTERISE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92140" y="1545167"/>
              <a:ext cx="2805503" cy="1543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2"/>
                </a:lnSpc>
                <a:spcBef>
                  <a:spcPct val="0"/>
                </a:spcBef>
              </a:pPr>
              <a:r>
                <a:rPr lang="en-US" sz="151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Analyse the slick’s area, shape, location and other spatial characteristics.</a:t>
              </a:r>
            </a:p>
            <a:p>
              <a:pPr algn="ctr">
                <a:lnSpc>
                  <a:spcPts val="1812"/>
                </a:lnSpc>
                <a:spcBef>
                  <a:spcPct val="0"/>
                </a:spcBef>
              </a:pPr>
              <a:endParaRPr lang="en-US" sz="151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9129181" y="38829"/>
              <a:ext cx="3260601" cy="2917198"/>
              <a:chOff x="0" y="0"/>
              <a:chExt cx="644069" cy="57623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44069" cy="576237"/>
              </a:xfrm>
              <a:custGeom>
                <a:avLst/>
                <a:gdLst/>
                <a:ahLst/>
                <a:cxnLst/>
                <a:rect l="l" t="t" r="r" b="b"/>
                <a:pathLst>
                  <a:path w="644069" h="576237">
                    <a:moveTo>
                      <a:pt x="31658" y="0"/>
                    </a:moveTo>
                    <a:lnTo>
                      <a:pt x="612411" y="0"/>
                    </a:lnTo>
                    <a:cubicBezTo>
                      <a:pt x="620807" y="0"/>
                      <a:pt x="628860" y="3335"/>
                      <a:pt x="634797" y="9273"/>
                    </a:cubicBezTo>
                    <a:cubicBezTo>
                      <a:pt x="640734" y="15210"/>
                      <a:pt x="644069" y="23262"/>
                      <a:pt x="644069" y="31658"/>
                    </a:cubicBezTo>
                    <a:lnTo>
                      <a:pt x="644069" y="544578"/>
                    </a:lnTo>
                    <a:cubicBezTo>
                      <a:pt x="644069" y="562063"/>
                      <a:pt x="629895" y="576237"/>
                      <a:pt x="612411" y="576237"/>
                    </a:cubicBezTo>
                    <a:lnTo>
                      <a:pt x="31658" y="576237"/>
                    </a:lnTo>
                    <a:cubicBezTo>
                      <a:pt x="23262" y="576237"/>
                      <a:pt x="15210" y="572901"/>
                      <a:pt x="9273" y="566964"/>
                    </a:cubicBezTo>
                    <a:cubicBezTo>
                      <a:pt x="3335" y="561027"/>
                      <a:pt x="0" y="552975"/>
                      <a:pt x="0" y="544578"/>
                    </a:cubicBezTo>
                    <a:lnTo>
                      <a:pt x="0" y="31658"/>
                    </a:lnTo>
                    <a:cubicBezTo>
                      <a:pt x="0" y="14174"/>
                      <a:pt x="14174" y="0"/>
                      <a:pt x="31658" y="0"/>
                    </a:cubicBezTo>
                    <a:close/>
                  </a:path>
                </a:pathLst>
              </a:custGeom>
              <a:solidFill>
                <a:srgbClr val="FBFCF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19050"/>
                <a:ext cx="644069" cy="5952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9209482" y="1059278"/>
              <a:ext cx="3099998" cy="361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3"/>
                </a:lnSpc>
                <a:spcBef>
                  <a:spcPct val="0"/>
                </a:spcBef>
              </a:pPr>
              <a:r>
                <a:rPr lang="en-US" sz="1711" b="1">
                  <a:solidFill>
                    <a:srgbClr val="FF31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 HINDCAST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56730" y="1478378"/>
              <a:ext cx="2805503" cy="1543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2"/>
                </a:lnSpc>
                <a:spcBef>
                  <a:spcPct val="0"/>
                </a:spcBef>
              </a:pPr>
              <a:r>
                <a:rPr lang="en-US" sz="151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Use historical ocean currents and wind data to estimate the probable origin zone and time.</a:t>
              </a:r>
            </a:p>
            <a:p>
              <a:pPr algn="ctr">
                <a:lnSpc>
                  <a:spcPts val="1812"/>
                </a:lnSpc>
                <a:spcBef>
                  <a:spcPct val="0"/>
                </a:spcBef>
              </a:pPr>
              <a:endParaRPr lang="en-US" sz="151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13735982" y="38829"/>
              <a:ext cx="3260601" cy="2917198"/>
              <a:chOff x="0" y="0"/>
              <a:chExt cx="644069" cy="57623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644069" cy="576237"/>
              </a:xfrm>
              <a:custGeom>
                <a:avLst/>
                <a:gdLst/>
                <a:ahLst/>
                <a:cxnLst/>
                <a:rect l="l" t="t" r="r" b="b"/>
                <a:pathLst>
                  <a:path w="644069" h="576237">
                    <a:moveTo>
                      <a:pt x="31658" y="0"/>
                    </a:moveTo>
                    <a:lnTo>
                      <a:pt x="612411" y="0"/>
                    </a:lnTo>
                    <a:cubicBezTo>
                      <a:pt x="620807" y="0"/>
                      <a:pt x="628860" y="3335"/>
                      <a:pt x="634797" y="9273"/>
                    </a:cubicBezTo>
                    <a:cubicBezTo>
                      <a:pt x="640734" y="15210"/>
                      <a:pt x="644069" y="23262"/>
                      <a:pt x="644069" y="31658"/>
                    </a:cubicBezTo>
                    <a:lnTo>
                      <a:pt x="644069" y="544578"/>
                    </a:lnTo>
                    <a:cubicBezTo>
                      <a:pt x="644069" y="562063"/>
                      <a:pt x="629895" y="576237"/>
                      <a:pt x="612411" y="576237"/>
                    </a:cubicBezTo>
                    <a:lnTo>
                      <a:pt x="31658" y="576237"/>
                    </a:lnTo>
                    <a:cubicBezTo>
                      <a:pt x="23262" y="576237"/>
                      <a:pt x="15210" y="572901"/>
                      <a:pt x="9273" y="566964"/>
                    </a:cubicBezTo>
                    <a:cubicBezTo>
                      <a:pt x="3335" y="561027"/>
                      <a:pt x="0" y="552975"/>
                      <a:pt x="0" y="544578"/>
                    </a:cubicBezTo>
                    <a:lnTo>
                      <a:pt x="0" y="31658"/>
                    </a:lnTo>
                    <a:cubicBezTo>
                      <a:pt x="0" y="14174"/>
                      <a:pt x="14174" y="0"/>
                      <a:pt x="31658" y="0"/>
                    </a:cubicBezTo>
                    <a:close/>
                  </a:path>
                </a:pathLst>
              </a:custGeom>
              <a:solidFill>
                <a:srgbClr val="FBFCF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19050"/>
                <a:ext cx="644069" cy="5952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3816284" y="1096649"/>
              <a:ext cx="3099998" cy="361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3"/>
                </a:lnSpc>
                <a:spcBef>
                  <a:spcPct val="0"/>
                </a:spcBef>
              </a:pPr>
              <a:r>
                <a:rPr lang="en-US" sz="1711" b="1">
                  <a:solidFill>
                    <a:srgbClr val="FF31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4.CORRELATE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963532" y="1478378"/>
              <a:ext cx="2805503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2"/>
                </a:lnSpc>
                <a:spcBef>
                  <a:spcPct val="0"/>
                </a:spcBef>
              </a:pPr>
              <a:r>
                <a:rPr lang="en-US" sz="151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Match the estimated source region and time window with historical AIS vessel tracks.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18391533" y="0"/>
              <a:ext cx="3260601" cy="2917198"/>
              <a:chOff x="0" y="0"/>
              <a:chExt cx="644069" cy="57623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644069" cy="576237"/>
              </a:xfrm>
              <a:custGeom>
                <a:avLst/>
                <a:gdLst/>
                <a:ahLst/>
                <a:cxnLst/>
                <a:rect l="l" t="t" r="r" b="b"/>
                <a:pathLst>
                  <a:path w="644069" h="576237">
                    <a:moveTo>
                      <a:pt x="31658" y="0"/>
                    </a:moveTo>
                    <a:lnTo>
                      <a:pt x="612411" y="0"/>
                    </a:lnTo>
                    <a:cubicBezTo>
                      <a:pt x="620807" y="0"/>
                      <a:pt x="628860" y="3335"/>
                      <a:pt x="634797" y="9273"/>
                    </a:cubicBezTo>
                    <a:cubicBezTo>
                      <a:pt x="640734" y="15210"/>
                      <a:pt x="644069" y="23262"/>
                      <a:pt x="644069" y="31658"/>
                    </a:cubicBezTo>
                    <a:lnTo>
                      <a:pt x="644069" y="544578"/>
                    </a:lnTo>
                    <a:cubicBezTo>
                      <a:pt x="644069" y="562063"/>
                      <a:pt x="629895" y="576237"/>
                      <a:pt x="612411" y="576237"/>
                    </a:cubicBezTo>
                    <a:lnTo>
                      <a:pt x="31658" y="576237"/>
                    </a:lnTo>
                    <a:cubicBezTo>
                      <a:pt x="23262" y="576237"/>
                      <a:pt x="15210" y="572901"/>
                      <a:pt x="9273" y="566964"/>
                    </a:cubicBezTo>
                    <a:cubicBezTo>
                      <a:pt x="3335" y="561027"/>
                      <a:pt x="0" y="552975"/>
                      <a:pt x="0" y="544578"/>
                    </a:cubicBezTo>
                    <a:lnTo>
                      <a:pt x="0" y="31658"/>
                    </a:lnTo>
                    <a:cubicBezTo>
                      <a:pt x="0" y="14174"/>
                      <a:pt x="14174" y="0"/>
                      <a:pt x="31658" y="0"/>
                    </a:cubicBezTo>
                    <a:close/>
                  </a:path>
                </a:pathLst>
              </a:custGeom>
              <a:solidFill>
                <a:srgbClr val="FBFCF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19050"/>
                <a:ext cx="644069" cy="5952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18471834" y="1032411"/>
              <a:ext cx="3099998" cy="361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3"/>
                </a:lnSpc>
                <a:spcBef>
                  <a:spcPct val="0"/>
                </a:spcBef>
              </a:pPr>
              <a:r>
                <a:rPr lang="en-US" sz="1711" b="1">
                  <a:solidFill>
                    <a:srgbClr val="FF313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5.PRIORITISE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619082" y="1434734"/>
              <a:ext cx="2805503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2"/>
                </a:lnSpc>
                <a:spcBef>
                  <a:spcPct val="0"/>
                </a:spcBef>
              </a:pPr>
              <a:r>
                <a:rPr lang="en-US" sz="151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Rank potential vessels using evidence-based scoring for further human investigation.</a:t>
              </a:r>
            </a:p>
          </p:txBody>
        </p:sp>
        <p:sp>
          <p:nvSpPr>
            <p:cNvPr id="44" name="AutoShape 44"/>
            <p:cNvSpPr/>
            <p:nvPr/>
          </p:nvSpPr>
          <p:spPr>
            <a:xfrm>
              <a:off x="3300752" y="1483999"/>
              <a:ext cx="1303989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5" name="AutoShape 45"/>
            <p:cNvSpPr/>
            <p:nvPr/>
          </p:nvSpPr>
          <p:spPr>
            <a:xfrm flipV="1">
              <a:off x="7865343" y="1458599"/>
              <a:ext cx="1276538" cy="254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12389782" y="1381661"/>
              <a:ext cx="1394949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16996583" y="1356261"/>
              <a:ext cx="1394949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8" name="Freeform 48"/>
            <p:cNvSpPr/>
            <p:nvPr/>
          </p:nvSpPr>
          <p:spPr>
            <a:xfrm>
              <a:off x="936634" y="282002"/>
              <a:ext cx="1387333" cy="701406"/>
            </a:xfrm>
            <a:custGeom>
              <a:avLst/>
              <a:gdLst/>
              <a:ahLst/>
              <a:cxnLst/>
              <a:rect l="l" t="t" r="r" b="b"/>
              <a:pathLst>
                <a:path w="1387333" h="701406">
                  <a:moveTo>
                    <a:pt x="0" y="0"/>
                  </a:moveTo>
                  <a:lnTo>
                    <a:pt x="1387333" y="0"/>
                  </a:lnTo>
                  <a:lnTo>
                    <a:pt x="1387333" y="701406"/>
                  </a:lnTo>
                  <a:lnTo>
                    <a:pt x="0" y="701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3348" t="-495271" r="-1427042" b="-451106"/>
              </a:stretch>
            </a:blipFill>
          </p:spPr>
        </p:sp>
        <p:sp>
          <p:nvSpPr>
            <p:cNvPr id="49" name="Freeform 49"/>
            <p:cNvSpPr/>
            <p:nvPr/>
          </p:nvSpPr>
          <p:spPr>
            <a:xfrm>
              <a:off x="5741755" y="282002"/>
              <a:ext cx="825971" cy="681626"/>
            </a:xfrm>
            <a:custGeom>
              <a:avLst/>
              <a:gdLst/>
              <a:ahLst/>
              <a:cxnLst/>
              <a:rect l="l" t="t" r="r" b="b"/>
              <a:pathLst>
                <a:path w="825971" h="681626">
                  <a:moveTo>
                    <a:pt x="0" y="0"/>
                  </a:moveTo>
                  <a:lnTo>
                    <a:pt x="825971" y="0"/>
                  </a:lnTo>
                  <a:lnTo>
                    <a:pt x="825971" y="681626"/>
                  </a:lnTo>
                  <a:lnTo>
                    <a:pt x="0" y="681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6997" t="-508749" r="-1878267" b="-467992"/>
              </a:stretch>
            </a:blipFill>
          </p:spPr>
        </p:sp>
        <p:sp>
          <p:nvSpPr>
            <p:cNvPr id="50" name="Freeform 50"/>
            <p:cNvSpPr/>
            <p:nvPr/>
          </p:nvSpPr>
          <p:spPr>
            <a:xfrm>
              <a:off x="10347763" y="282002"/>
              <a:ext cx="823438" cy="608827"/>
            </a:xfrm>
            <a:custGeom>
              <a:avLst/>
              <a:gdLst/>
              <a:ahLst/>
              <a:cxnLst/>
              <a:rect l="l" t="t" r="r" b="b"/>
              <a:pathLst>
                <a:path w="823438" h="608827">
                  <a:moveTo>
                    <a:pt x="0" y="0"/>
                  </a:moveTo>
                  <a:lnTo>
                    <a:pt x="823437" y="0"/>
                  </a:lnTo>
                  <a:lnTo>
                    <a:pt x="823437" y="608827"/>
                  </a:lnTo>
                  <a:lnTo>
                    <a:pt x="0" y="608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31180" t="-549923" r="-1332559" b="-555567"/>
              </a:stretch>
            </a:blipFill>
          </p:spPr>
        </p:sp>
        <p:sp>
          <p:nvSpPr>
            <p:cNvPr id="51" name="Freeform 51"/>
            <p:cNvSpPr/>
            <p:nvPr/>
          </p:nvSpPr>
          <p:spPr>
            <a:xfrm>
              <a:off x="14955182" y="282002"/>
              <a:ext cx="922522" cy="769459"/>
            </a:xfrm>
            <a:custGeom>
              <a:avLst/>
              <a:gdLst/>
              <a:ahLst/>
              <a:cxnLst/>
              <a:rect l="l" t="t" r="r" b="b"/>
              <a:pathLst>
                <a:path w="922522" h="769459">
                  <a:moveTo>
                    <a:pt x="0" y="0"/>
                  </a:moveTo>
                  <a:lnTo>
                    <a:pt x="922522" y="0"/>
                  </a:lnTo>
                  <a:lnTo>
                    <a:pt x="922522" y="769459"/>
                  </a:lnTo>
                  <a:lnTo>
                    <a:pt x="0" y="769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94897" t="-450675" r="-672000" b="-403156"/>
              </a:stretch>
            </a:blipFill>
          </p:spPr>
        </p:sp>
        <p:sp>
          <p:nvSpPr>
            <p:cNvPr id="52" name="Freeform 52"/>
            <p:cNvSpPr/>
            <p:nvPr/>
          </p:nvSpPr>
          <p:spPr>
            <a:xfrm>
              <a:off x="19561983" y="282002"/>
              <a:ext cx="749316" cy="712846"/>
            </a:xfrm>
            <a:custGeom>
              <a:avLst/>
              <a:gdLst/>
              <a:ahLst/>
              <a:cxnLst/>
              <a:rect l="l" t="t" r="r" b="b"/>
              <a:pathLst>
                <a:path w="749316" h="712846">
                  <a:moveTo>
                    <a:pt x="0" y="0"/>
                  </a:moveTo>
                  <a:lnTo>
                    <a:pt x="749316" y="0"/>
                  </a:lnTo>
                  <a:lnTo>
                    <a:pt x="749316" y="712846"/>
                  </a:lnTo>
                  <a:lnTo>
                    <a:pt x="0" y="712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12357" t="-486467" r="-224770" b="-443116"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496956" y="4541145"/>
            <a:ext cx="8496781" cy="4819414"/>
            <a:chOff x="0" y="0"/>
            <a:chExt cx="2237835" cy="1269311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237835" cy="1269311"/>
            </a:xfrm>
            <a:custGeom>
              <a:avLst/>
              <a:gdLst/>
              <a:ahLst/>
              <a:cxnLst/>
              <a:rect l="l" t="t" r="r" b="b"/>
              <a:pathLst>
                <a:path w="2237835" h="1269311">
                  <a:moveTo>
                    <a:pt x="0" y="0"/>
                  </a:moveTo>
                  <a:lnTo>
                    <a:pt x="2237835" y="0"/>
                  </a:lnTo>
                  <a:lnTo>
                    <a:pt x="2237835" y="1269311"/>
                  </a:lnTo>
                  <a:lnTo>
                    <a:pt x="0" y="1269311"/>
                  </a:lnTo>
                  <a:close/>
                </a:path>
              </a:pathLst>
            </a:custGeom>
            <a:solidFill>
              <a:srgbClr val="FBFCF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2237835" cy="1288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490694" y="4541145"/>
            <a:ext cx="8464324" cy="4819414"/>
            <a:chOff x="0" y="0"/>
            <a:chExt cx="2229287" cy="1269311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229287" cy="1269311"/>
            </a:xfrm>
            <a:custGeom>
              <a:avLst/>
              <a:gdLst/>
              <a:ahLst/>
              <a:cxnLst/>
              <a:rect l="l" t="t" r="r" b="b"/>
              <a:pathLst>
                <a:path w="2229287" h="1269311">
                  <a:moveTo>
                    <a:pt x="0" y="0"/>
                  </a:moveTo>
                  <a:lnTo>
                    <a:pt x="2229287" y="0"/>
                  </a:lnTo>
                  <a:lnTo>
                    <a:pt x="2229287" y="1269311"/>
                  </a:lnTo>
                  <a:lnTo>
                    <a:pt x="0" y="1269311"/>
                  </a:lnTo>
                  <a:close/>
                </a:path>
              </a:pathLst>
            </a:custGeom>
            <a:solidFill>
              <a:srgbClr val="FBFCF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2229287" cy="1288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873976" y="928355"/>
            <a:ext cx="12418621" cy="541769"/>
            <a:chOff x="0" y="0"/>
            <a:chExt cx="3270748" cy="14268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270748" cy="142688"/>
            </a:xfrm>
            <a:custGeom>
              <a:avLst/>
              <a:gdLst/>
              <a:ahLst/>
              <a:cxnLst/>
              <a:rect l="l" t="t" r="r" b="b"/>
              <a:pathLst>
                <a:path w="3270748" h="142688">
                  <a:moveTo>
                    <a:pt x="0" y="0"/>
                  </a:moveTo>
                  <a:lnTo>
                    <a:pt x="3270748" y="0"/>
                  </a:lnTo>
                  <a:lnTo>
                    <a:pt x="3270748" y="142688"/>
                  </a:lnTo>
                  <a:lnTo>
                    <a:pt x="0" y="142688"/>
                  </a:lnTo>
                  <a:close/>
                </a:path>
              </a:pathLst>
            </a:custGeom>
            <a:solidFill>
              <a:srgbClr val="FBFCF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3270748" cy="161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632072" y="4624549"/>
            <a:ext cx="8207044" cy="447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303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Working:</a:t>
            </a:r>
          </a:p>
          <a:p>
            <a:pPr marL="571992" lvl="1" indent="-285996" algn="l">
              <a:lnSpc>
                <a:spcPts val="3179"/>
              </a:lnSpc>
              <a:buFont typeface="Arial"/>
              <a:buChar char="•"/>
            </a:pPr>
            <a:r>
              <a:rPr lang="en-US" sz="2649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Satellite–AIS Fusion</a:t>
            </a:r>
            <a:r>
              <a:rPr lang="en-US" sz="264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</a:t>
            </a:r>
            <a:r>
              <a:rPr lang="en-US" sz="26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Integrates Sentinel-1 SAR and AIS data.</a:t>
            </a:r>
          </a:p>
          <a:p>
            <a:pPr marL="571992" lvl="1" indent="-285996" algn="l">
              <a:lnSpc>
                <a:spcPts val="3179"/>
              </a:lnSpc>
              <a:buFont typeface="Arial"/>
              <a:buChar char="•"/>
            </a:pPr>
            <a:r>
              <a:rPr lang="en-US" sz="2649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Slick Detection</a:t>
            </a:r>
            <a:r>
              <a:rPr lang="en-US" sz="264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 </a:t>
            </a:r>
            <a:r>
              <a:rPr lang="en-US" sz="26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Detects oil slicks and filters look-alikes.</a:t>
            </a:r>
          </a:p>
          <a:p>
            <a:pPr marL="571992" lvl="1" indent="-285996" algn="l">
              <a:lnSpc>
                <a:spcPts val="3179"/>
              </a:lnSpc>
              <a:buFont typeface="Arial"/>
              <a:buChar char="•"/>
            </a:pPr>
            <a:r>
              <a:rPr lang="en-US" sz="2649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Drift Modelling</a:t>
            </a:r>
            <a:r>
              <a:rPr lang="en-US" sz="264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 </a:t>
            </a:r>
            <a:r>
              <a:rPr lang="en-US" sz="26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Reconstructs slick movement using wind &amp; currents.</a:t>
            </a:r>
          </a:p>
          <a:p>
            <a:pPr marL="571992" lvl="1" indent="-285996" algn="l">
              <a:lnSpc>
                <a:spcPts val="3179"/>
              </a:lnSpc>
              <a:buFont typeface="Arial"/>
              <a:buChar char="•"/>
            </a:pPr>
            <a:r>
              <a:rPr lang="en-US" sz="2649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Vessel Attribution</a:t>
            </a:r>
            <a:r>
              <a:rPr lang="en-US" sz="264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 </a:t>
            </a:r>
            <a:r>
              <a:rPr lang="en-US" sz="26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Matches probable source with historical AIS tracks.</a:t>
            </a:r>
          </a:p>
          <a:p>
            <a:pPr marL="571992" lvl="1" indent="-285996" algn="l">
              <a:lnSpc>
                <a:spcPts val="3179"/>
              </a:lnSpc>
              <a:buFont typeface="Arial"/>
              <a:buChar char="•"/>
            </a:pPr>
            <a:r>
              <a:rPr lang="en-US" sz="2649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Investigation Dashboard</a:t>
            </a:r>
            <a:r>
              <a:rPr lang="en-US" sz="264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</a:t>
            </a:r>
            <a:r>
              <a:rPr lang="en-US" sz="26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Presents vessel scores, alerts and case reports.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490694" y="4624549"/>
            <a:ext cx="8464324" cy="527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304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Our USP:</a:t>
            </a:r>
          </a:p>
          <a:p>
            <a:pPr marL="570951" lvl="1" indent="-285475" algn="l">
              <a:lnSpc>
                <a:spcPts val="3173"/>
              </a:lnSpc>
              <a:buFont typeface="Arial"/>
              <a:buChar char="•"/>
            </a:pPr>
            <a:r>
              <a:rPr lang="en-US" sz="2644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Multi-Source Fusion</a:t>
            </a:r>
            <a:r>
              <a:rPr lang="en-US" sz="264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 </a:t>
            </a:r>
            <a:r>
              <a:rPr lang="en-US" sz="26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Satellite + oceanographic + AIS data in one workflow</a:t>
            </a:r>
          </a:p>
          <a:p>
            <a:pPr marL="570951" lvl="1" indent="-285475" algn="l">
              <a:lnSpc>
                <a:spcPts val="3173"/>
              </a:lnSpc>
              <a:buFont typeface="Arial"/>
              <a:buChar char="•"/>
            </a:pPr>
            <a:r>
              <a:rPr lang="en-US" sz="2644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Look-Alike Screening</a:t>
            </a:r>
            <a:r>
              <a:rPr lang="en-US" sz="264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</a:t>
            </a:r>
            <a:r>
              <a:rPr lang="en-US" sz="26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Reduces false positives before vessel investigation</a:t>
            </a:r>
          </a:p>
          <a:p>
            <a:pPr marL="570951" lvl="1" indent="-285475" algn="l">
              <a:lnSpc>
                <a:spcPts val="3173"/>
              </a:lnSpc>
              <a:buFont typeface="Arial"/>
              <a:buChar char="•"/>
            </a:pPr>
            <a:r>
              <a:rPr lang="en-US" sz="2644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Uncertainty-Aware Origin Estimation</a:t>
            </a:r>
            <a:r>
              <a:rPr lang="en-US" sz="264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 </a:t>
            </a:r>
            <a:r>
              <a:rPr lang="en-US" sz="26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probable source zones with confidence</a:t>
            </a:r>
          </a:p>
          <a:p>
            <a:pPr marL="570951" lvl="1" indent="-285475" algn="l">
              <a:lnSpc>
                <a:spcPts val="3173"/>
              </a:lnSpc>
              <a:buFont typeface="Arial"/>
              <a:buChar char="•"/>
            </a:pPr>
            <a:r>
              <a:rPr lang="en-US" sz="2644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Explainable Vessel Ranking</a:t>
            </a:r>
            <a:r>
              <a:rPr lang="en-US" sz="264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 </a:t>
            </a:r>
            <a:r>
              <a:rPr lang="en-US" sz="26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Evidence-based scoring instead of simple proximity matching</a:t>
            </a:r>
          </a:p>
          <a:p>
            <a:pPr marL="570951" lvl="1" indent="-285475" algn="l">
              <a:lnSpc>
                <a:spcPts val="3173"/>
              </a:lnSpc>
              <a:buFont typeface="Arial"/>
              <a:buChar char="•"/>
            </a:pPr>
            <a:r>
              <a:rPr lang="en-US" sz="2644" b="1">
                <a:solidFill>
                  <a:srgbClr val="F63737"/>
                </a:solidFill>
                <a:latin typeface="Arial Bold"/>
                <a:ea typeface="Arial Bold"/>
                <a:cs typeface="Arial Bold"/>
                <a:sym typeface="Arial Bold"/>
              </a:rPr>
              <a:t>Human-in-the-Loop</a:t>
            </a:r>
            <a:r>
              <a:rPr lang="en-US" sz="264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— </a:t>
            </a:r>
            <a:r>
              <a:rPr lang="en-US" sz="26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investigators without automatically declaring a culprit</a:t>
            </a:r>
          </a:p>
          <a:p>
            <a:pPr algn="l">
              <a:lnSpc>
                <a:spcPts val="3173"/>
              </a:lnSpc>
            </a:pPr>
            <a:endParaRPr lang="en-US" sz="26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173"/>
              </a:lnSpc>
            </a:pPr>
            <a:endParaRPr lang="en-US" sz="26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2822289" y="937880"/>
            <a:ext cx="12342898" cy="87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8"/>
              </a:lnSpc>
              <a:spcBef>
                <a:spcPct val="0"/>
              </a:spcBef>
            </a:pPr>
            <a:r>
              <a:rPr lang="en-US" sz="2840" b="1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Detect </a:t>
            </a:r>
            <a:r>
              <a:rPr lang="en-US" sz="28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slick. </a:t>
            </a:r>
            <a:r>
              <a:rPr lang="en-US" sz="2840" b="1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Trace </a:t>
            </a:r>
            <a:r>
              <a:rPr lang="en-US" sz="28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its origin.</a:t>
            </a:r>
            <a:r>
              <a:rPr lang="en-US" sz="2840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40" b="1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Rank </a:t>
            </a:r>
            <a:r>
              <a:rPr lang="en-US" sz="28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candidate vessels for investigation</a:t>
            </a:r>
          </a:p>
          <a:p>
            <a:pPr algn="ctr">
              <a:lnSpc>
                <a:spcPts val="3408"/>
              </a:lnSpc>
              <a:spcBef>
                <a:spcPct val="0"/>
              </a:spcBef>
            </a:pPr>
            <a:endParaRPr lang="en-US" sz="28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632072" y="1539005"/>
            <a:ext cx="1674152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solution fuses Sentinel-1 SAR, oceanographic and AIS data to detect slicks, trace their origin and rank candidate vessels.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-234884"/>
            <a:ext cx="15173947" cy="158062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618694" y="2248"/>
            <a:ext cx="2426209" cy="1145610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7252503" y="1786297"/>
            <a:ext cx="10792400" cy="6714405"/>
          </a:xfrm>
          <a:custGeom>
            <a:avLst/>
            <a:gdLst/>
            <a:ahLst/>
            <a:cxnLst/>
            <a:rect l="l" t="t" r="r" b="b"/>
            <a:pathLst>
              <a:path w="10792400" h="6714405">
                <a:moveTo>
                  <a:pt x="0" y="0"/>
                </a:moveTo>
                <a:lnTo>
                  <a:pt x="10792400" y="0"/>
                </a:lnTo>
                <a:lnTo>
                  <a:pt x="10792400" y="6714406"/>
                </a:lnTo>
                <a:lnTo>
                  <a:pt x="0" y="6714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2" t="-7690" r="-265"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0" y="2248"/>
            <a:ext cx="1816495" cy="1184300"/>
            <a:chOff x="0" y="0"/>
            <a:chExt cx="2554516" cy="1665468"/>
          </a:xfrm>
        </p:grpSpPr>
        <p:sp>
          <p:nvSpPr>
            <p:cNvPr id="17" name="Freeform 17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ByteCoders.</a:t>
              </a:r>
            </a:p>
          </p:txBody>
        </p:sp>
      </p:grpSp>
      <p:graphicFrame>
        <p:nvGraphicFramePr>
          <p:cNvPr id="19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899713"/>
              </p:ext>
            </p:extLst>
          </p:nvPr>
        </p:nvGraphicFramePr>
        <p:xfrm>
          <a:off x="369123" y="1345735"/>
          <a:ext cx="6603176" cy="7873190"/>
        </p:xfrm>
        <a:graphic>
          <a:graphicData uri="http://schemas.openxmlformats.org/drawingml/2006/table">
            <a:tbl>
              <a:tblPr/>
              <a:tblGrid>
                <a:gridCol w="3301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1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7319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Category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B7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Technology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B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Frontend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dirty="0"/>
                        <a:t>React · TypeScript · Vite · </a:t>
                      </a:r>
                      <a:r>
                        <a:rPr dirty="0" err="1"/>
                        <a:t>MapLibre</a:t>
                      </a:r>
                      <a:r>
                        <a:rPr dirty="0"/>
                        <a:t> GL (deck.gl)</a:t>
                      </a:r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FastAPI (Python) · Spring Boot (Java) · WebSocket</a:t>
                      </a:r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MongoDB</a:t>
                      </a:r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AI / ML</a:t>
                      </a:r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PyTorch · segmentation-models-pytorch (U-Net)</a:t>
                      </a:r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Drift Modelling</a:t>
                      </a:r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OpenDrift · OpenOil (backward hindcast)</a:t>
                      </a:r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Data Sources</a:t>
                      </a:r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Sentinel-1 SAR · CMEMS · ERA5 · </a:t>
                      </a:r>
                      <a:r>
                        <a:rPr dirty="0" err="1"/>
                        <a:t>MarineCadastre</a:t>
                      </a:r>
                      <a:r>
                        <a:rPr dirty="0"/>
                        <a:t> AIS</a:t>
                      </a:r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87319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01096" y="-318700"/>
            <a:ext cx="17487900" cy="1821656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546368" y="2248"/>
            <a:ext cx="2498535" cy="1179760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0452" y="54874"/>
            <a:ext cx="1816495" cy="1184300"/>
            <a:chOff x="0" y="0"/>
            <a:chExt cx="2554516" cy="1665468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ByteCoders.</a:t>
              </a:r>
            </a:p>
          </p:txBody>
        </p:sp>
      </p:grpSp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372729" y="1322482"/>
          <a:ext cx="9834880" cy="7835538"/>
        </p:xfrm>
        <a:graphic>
          <a:graphicData uri="http://schemas.openxmlformats.org/drawingml/2006/table">
            <a:tbl>
              <a:tblPr/>
              <a:tblGrid>
                <a:gridCol w="2118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254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Aspect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A6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Feasibility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A6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Viability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A6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471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Data Availability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Sentinel-1, Sentinel-2, EOS-06 and AIS data are available for analysis.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Supports continuous monitoring of marine pollution and vessel movement.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471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Technology Readiness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Proven AI/ML models, oceanographic data and open-source tools are available.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Enables faster, automated and cost-effective oil-spill detection.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471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System Development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solution can be developed using Python, geospatial libraries, cloud infrastructure and open APIs.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 be deployed for real-time monitoring and decision support.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471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National Relevance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system can be adapted to Indian coastal regions and major shipping routes.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Supports marine safety, environmental protection and maritime surveillance.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471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Impact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Satellite and drift models can identify spill locations and probable movement.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Helps authorities respond faster, reduce ecological damage and investigate responsible vessels.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471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Scalability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MVP can start with one region and later expand using cloud infrastructure.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Has potential for regional, national and eventually global deployment.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9" name="Group 19"/>
          <p:cNvGrpSpPr/>
          <p:nvPr/>
        </p:nvGrpSpPr>
        <p:grpSpPr>
          <a:xfrm>
            <a:off x="10656847" y="6127396"/>
            <a:ext cx="7388056" cy="2971658"/>
            <a:chOff x="0" y="0"/>
            <a:chExt cx="9850742" cy="3962211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9850742" cy="3962211"/>
              <a:chOff x="0" y="0"/>
              <a:chExt cx="1853206" cy="74549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853206" cy="745495"/>
              </a:xfrm>
              <a:custGeom>
                <a:avLst/>
                <a:gdLst/>
                <a:ahLst/>
                <a:cxnLst/>
                <a:rect l="l" t="t" r="r" b="b"/>
                <a:pathLst>
                  <a:path w="1853206" h="745495">
                    <a:moveTo>
                      <a:pt x="1853206" y="22006"/>
                    </a:moveTo>
                    <a:lnTo>
                      <a:pt x="1853206" y="723490"/>
                    </a:lnTo>
                    <a:cubicBezTo>
                      <a:pt x="1853206" y="729326"/>
                      <a:pt x="1850887" y="734923"/>
                      <a:pt x="1846760" y="739050"/>
                    </a:cubicBezTo>
                    <a:cubicBezTo>
                      <a:pt x="1842634" y="743177"/>
                      <a:pt x="1837036" y="745495"/>
                      <a:pt x="1831200" y="745495"/>
                    </a:cubicBezTo>
                    <a:lnTo>
                      <a:pt x="22006" y="745495"/>
                    </a:lnTo>
                    <a:cubicBezTo>
                      <a:pt x="16169" y="745495"/>
                      <a:pt x="10572" y="743177"/>
                      <a:pt x="6445" y="739050"/>
                    </a:cubicBezTo>
                    <a:cubicBezTo>
                      <a:pt x="2318" y="734923"/>
                      <a:pt x="0" y="729326"/>
                      <a:pt x="0" y="723490"/>
                    </a:cubicBezTo>
                    <a:lnTo>
                      <a:pt x="0" y="22006"/>
                    </a:lnTo>
                    <a:cubicBezTo>
                      <a:pt x="0" y="16169"/>
                      <a:pt x="2318" y="10572"/>
                      <a:pt x="6445" y="6445"/>
                    </a:cubicBezTo>
                    <a:cubicBezTo>
                      <a:pt x="10572" y="2318"/>
                      <a:pt x="16169" y="0"/>
                      <a:pt x="22006" y="0"/>
                    </a:cubicBezTo>
                    <a:lnTo>
                      <a:pt x="1831200" y="0"/>
                    </a:lnTo>
                    <a:cubicBezTo>
                      <a:pt x="1837036" y="0"/>
                      <a:pt x="1842634" y="2318"/>
                      <a:pt x="1846760" y="6445"/>
                    </a:cubicBezTo>
                    <a:cubicBezTo>
                      <a:pt x="1850887" y="10572"/>
                      <a:pt x="1853206" y="16169"/>
                      <a:pt x="1853206" y="2200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6767">
                      <a:alpha val="100000"/>
                    </a:srgbClr>
                  </a:gs>
                  <a:gs pos="100000">
                    <a:srgbClr val="FFD1D1">
                      <a:alpha val="100000"/>
                    </a:srgbClr>
                  </a:gs>
                </a:gsLst>
                <a:lin ang="5400000"/>
              </a:gradFill>
              <a:ln w="38100" cap="sq">
                <a:solidFill>
                  <a:srgbClr val="F63737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19050"/>
                <a:ext cx="1853206" cy="7645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0" y="1040625"/>
              <a:ext cx="9850144" cy="0"/>
            </a:xfrm>
            <a:prstGeom prst="line">
              <a:avLst/>
            </a:prstGeom>
            <a:ln w="53339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Freeform 24"/>
            <p:cNvSpPr/>
            <p:nvPr/>
          </p:nvSpPr>
          <p:spPr>
            <a:xfrm>
              <a:off x="235208" y="127900"/>
              <a:ext cx="842395" cy="758155"/>
            </a:xfrm>
            <a:custGeom>
              <a:avLst/>
              <a:gdLst/>
              <a:ahLst/>
              <a:cxnLst/>
              <a:rect l="l" t="t" r="r" b="b"/>
              <a:pathLst>
                <a:path w="842395" h="758155">
                  <a:moveTo>
                    <a:pt x="0" y="0"/>
                  </a:moveTo>
                  <a:lnTo>
                    <a:pt x="842394" y="0"/>
                  </a:lnTo>
                  <a:lnTo>
                    <a:pt x="842394" y="758155"/>
                  </a:lnTo>
                  <a:lnTo>
                    <a:pt x="0" y="75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406076" y="1347056"/>
              <a:ext cx="5984859" cy="1813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55"/>
                </a:lnSpc>
              </a:pPr>
              <a:r>
                <a:rPr lang="en-US" sz="188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False detection from look-alikes</a:t>
              </a:r>
            </a:p>
            <a:p>
              <a:pPr algn="l">
                <a:lnSpc>
                  <a:spcPts val="3855"/>
                </a:lnSpc>
              </a:pPr>
              <a:r>
                <a:rPr lang="en-US" sz="188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AIS gaps or spoofing</a:t>
              </a:r>
            </a:p>
            <a:p>
              <a:pPr algn="l">
                <a:lnSpc>
                  <a:spcPts val="3855"/>
                </a:lnSpc>
              </a:pPr>
              <a:r>
                <a:rPr lang="en-US" sz="188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Uncertainity in spill-origin estimation</a:t>
              </a:r>
            </a:p>
          </p:txBody>
        </p:sp>
        <p:sp>
          <p:nvSpPr>
            <p:cNvPr id="26" name="AutoShape 26"/>
            <p:cNvSpPr/>
            <p:nvPr/>
          </p:nvSpPr>
          <p:spPr>
            <a:xfrm>
              <a:off x="5657195" y="1719892"/>
              <a:ext cx="266729" cy="0"/>
            </a:xfrm>
            <a:prstGeom prst="line">
              <a:avLst/>
            </a:prstGeom>
            <a:ln w="5333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657195" y="2308005"/>
              <a:ext cx="266729" cy="0"/>
            </a:xfrm>
            <a:prstGeom prst="line">
              <a:avLst/>
            </a:prstGeom>
            <a:ln w="5333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5657195" y="2988082"/>
              <a:ext cx="266729" cy="0"/>
            </a:xfrm>
            <a:prstGeom prst="line">
              <a:avLst/>
            </a:prstGeom>
            <a:ln w="5333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9" name="Freeform 29"/>
            <p:cNvSpPr/>
            <p:nvPr/>
          </p:nvSpPr>
          <p:spPr>
            <a:xfrm>
              <a:off x="154350" y="1639034"/>
              <a:ext cx="161715" cy="161715"/>
            </a:xfrm>
            <a:custGeom>
              <a:avLst/>
              <a:gdLst/>
              <a:ahLst/>
              <a:cxnLst/>
              <a:rect l="l" t="t" r="r" b="b"/>
              <a:pathLst>
                <a:path w="161715" h="161715">
                  <a:moveTo>
                    <a:pt x="0" y="0"/>
                  </a:moveTo>
                  <a:lnTo>
                    <a:pt x="161715" y="0"/>
                  </a:lnTo>
                  <a:lnTo>
                    <a:pt x="161715" y="161716"/>
                  </a:lnTo>
                  <a:lnTo>
                    <a:pt x="0" y="161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54350" y="2253817"/>
              <a:ext cx="161715" cy="161715"/>
            </a:xfrm>
            <a:custGeom>
              <a:avLst/>
              <a:gdLst/>
              <a:ahLst/>
              <a:cxnLst/>
              <a:rect l="l" t="t" r="r" b="b"/>
              <a:pathLst>
                <a:path w="161715" h="161715">
                  <a:moveTo>
                    <a:pt x="0" y="0"/>
                  </a:moveTo>
                  <a:lnTo>
                    <a:pt x="161715" y="0"/>
                  </a:lnTo>
                  <a:lnTo>
                    <a:pt x="161715" y="161715"/>
                  </a:lnTo>
                  <a:lnTo>
                    <a:pt x="0" y="161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154350" y="2907224"/>
              <a:ext cx="161715" cy="161715"/>
            </a:xfrm>
            <a:custGeom>
              <a:avLst/>
              <a:gdLst/>
              <a:ahLst/>
              <a:cxnLst/>
              <a:rect l="l" t="t" r="r" b="b"/>
              <a:pathLst>
                <a:path w="161715" h="161715">
                  <a:moveTo>
                    <a:pt x="0" y="0"/>
                  </a:moveTo>
                  <a:lnTo>
                    <a:pt x="161715" y="0"/>
                  </a:lnTo>
                  <a:lnTo>
                    <a:pt x="161715" y="161715"/>
                  </a:lnTo>
                  <a:lnTo>
                    <a:pt x="0" y="161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1243085" y="105415"/>
              <a:ext cx="2876825" cy="736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18"/>
                </a:lnSpc>
              </a:pPr>
              <a:r>
                <a:rPr lang="en-US" sz="3298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HIGH RISK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80592" y="1347056"/>
              <a:ext cx="3770150" cy="1813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55"/>
                </a:lnSpc>
              </a:pPr>
              <a:r>
                <a:rPr lang="en-US" sz="188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Multi source validation</a:t>
              </a:r>
            </a:p>
            <a:p>
              <a:pPr algn="l">
                <a:lnSpc>
                  <a:spcPts val="3855"/>
                </a:lnSpc>
              </a:pPr>
              <a:r>
                <a:rPr lang="en-US" sz="188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AIS-satelite verification</a:t>
              </a:r>
            </a:p>
            <a:p>
              <a:pPr algn="l">
                <a:lnSpc>
                  <a:spcPts val="3855"/>
                </a:lnSpc>
              </a:pPr>
              <a:r>
                <a:rPr lang="en-US" sz="188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Ensmeble drift simulation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655749" y="3396666"/>
            <a:ext cx="7388712" cy="2425930"/>
            <a:chOff x="0" y="0"/>
            <a:chExt cx="9851616" cy="3234573"/>
          </a:xfrm>
        </p:grpSpPr>
        <p:grpSp>
          <p:nvGrpSpPr>
            <p:cNvPr id="35" name="Group 35"/>
            <p:cNvGrpSpPr/>
            <p:nvPr/>
          </p:nvGrpSpPr>
          <p:grpSpPr>
            <a:xfrm>
              <a:off x="619" y="0"/>
              <a:ext cx="9850997" cy="3234573"/>
              <a:chOff x="0" y="0"/>
              <a:chExt cx="1853206" cy="608574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853206" cy="608574"/>
              </a:xfrm>
              <a:custGeom>
                <a:avLst/>
                <a:gdLst/>
                <a:ahLst/>
                <a:cxnLst/>
                <a:rect l="l" t="t" r="r" b="b"/>
                <a:pathLst>
                  <a:path w="1853206" h="608574">
                    <a:moveTo>
                      <a:pt x="1853206" y="22006"/>
                    </a:moveTo>
                    <a:lnTo>
                      <a:pt x="1853206" y="586568"/>
                    </a:lnTo>
                    <a:cubicBezTo>
                      <a:pt x="1853206" y="592404"/>
                      <a:pt x="1850887" y="598002"/>
                      <a:pt x="1846760" y="602128"/>
                    </a:cubicBezTo>
                    <a:cubicBezTo>
                      <a:pt x="1842634" y="606255"/>
                      <a:pt x="1837036" y="608574"/>
                      <a:pt x="1831200" y="608574"/>
                    </a:cubicBezTo>
                    <a:lnTo>
                      <a:pt x="22006" y="608574"/>
                    </a:lnTo>
                    <a:cubicBezTo>
                      <a:pt x="16169" y="608574"/>
                      <a:pt x="10572" y="606255"/>
                      <a:pt x="6445" y="602128"/>
                    </a:cubicBezTo>
                    <a:cubicBezTo>
                      <a:pt x="2318" y="598002"/>
                      <a:pt x="0" y="592404"/>
                      <a:pt x="0" y="586568"/>
                    </a:cubicBezTo>
                    <a:lnTo>
                      <a:pt x="0" y="22006"/>
                    </a:lnTo>
                    <a:cubicBezTo>
                      <a:pt x="0" y="16169"/>
                      <a:pt x="2318" y="10572"/>
                      <a:pt x="6445" y="6445"/>
                    </a:cubicBezTo>
                    <a:cubicBezTo>
                      <a:pt x="10572" y="2318"/>
                      <a:pt x="16169" y="0"/>
                      <a:pt x="22006" y="0"/>
                    </a:cubicBezTo>
                    <a:lnTo>
                      <a:pt x="1831200" y="0"/>
                    </a:lnTo>
                    <a:cubicBezTo>
                      <a:pt x="1837036" y="0"/>
                      <a:pt x="1842634" y="2318"/>
                      <a:pt x="1846760" y="6445"/>
                    </a:cubicBezTo>
                    <a:cubicBezTo>
                      <a:pt x="1850887" y="10572"/>
                      <a:pt x="1853206" y="16169"/>
                      <a:pt x="1853206" y="2200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DA6A">
                      <a:alpha val="100000"/>
                    </a:srgbClr>
                  </a:gs>
                  <a:gs pos="100000">
                    <a:srgbClr val="FFF7DE">
                      <a:alpha val="100000"/>
                    </a:srgbClr>
                  </a:gs>
                </a:gsLst>
                <a:lin ang="5400000"/>
              </a:gradFill>
              <a:ln w="38100" cap="sq">
                <a:solidFill>
                  <a:srgbClr val="FFBD59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19050"/>
                <a:ext cx="1853206" cy="6276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8" name="AutoShape 38"/>
            <p:cNvSpPr/>
            <p:nvPr/>
          </p:nvSpPr>
          <p:spPr>
            <a:xfrm flipV="1">
              <a:off x="20" y="928568"/>
              <a:ext cx="9850997" cy="7516"/>
            </a:xfrm>
            <a:prstGeom prst="line">
              <a:avLst/>
            </a:prstGeom>
            <a:ln w="53341" cap="flat">
              <a:solidFill>
                <a:srgbClr val="FFBD5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9" name="Freeform 39"/>
            <p:cNvSpPr/>
            <p:nvPr/>
          </p:nvSpPr>
          <p:spPr>
            <a:xfrm>
              <a:off x="235832" y="188724"/>
              <a:ext cx="643220" cy="643220"/>
            </a:xfrm>
            <a:custGeom>
              <a:avLst/>
              <a:gdLst/>
              <a:ahLst/>
              <a:cxnLst/>
              <a:rect l="l" t="t" r="r" b="b"/>
              <a:pathLst>
                <a:path w="643220" h="643220">
                  <a:moveTo>
                    <a:pt x="0" y="0"/>
                  </a:moveTo>
                  <a:lnTo>
                    <a:pt x="643221" y="0"/>
                  </a:lnTo>
                  <a:lnTo>
                    <a:pt x="643221" y="643221"/>
                  </a:lnTo>
                  <a:lnTo>
                    <a:pt x="0" y="643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Freeform 40"/>
            <p:cNvSpPr/>
            <p:nvPr/>
          </p:nvSpPr>
          <p:spPr>
            <a:xfrm>
              <a:off x="287744" y="1455567"/>
              <a:ext cx="161719" cy="161719"/>
            </a:xfrm>
            <a:custGeom>
              <a:avLst/>
              <a:gdLst/>
              <a:ahLst/>
              <a:cxnLst/>
              <a:rect l="l" t="t" r="r" b="b"/>
              <a:pathLst>
                <a:path w="161719" h="161719">
                  <a:moveTo>
                    <a:pt x="0" y="0"/>
                  </a:moveTo>
                  <a:lnTo>
                    <a:pt x="161720" y="0"/>
                  </a:lnTo>
                  <a:lnTo>
                    <a:pt x="161720" y="161720"/>
                  </a:lnTo>
                  <a:lnTo>
                    <a:pt x="0" y="161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596057" y="1195577"/>
              <a:ext cx="5985014" cy="1173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55"/>
                </a:lnSpc>
              </a:pPr>
              <a:r>
                <a:rPr lang="en-US" sz="189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High processing requirements</a:t>
              </a:r>
            </a:p>
            <a:p>
              <a:pPr algn="l">
                <a:lnSpc>
                  <a:spcPts val="3855"/>
                </a:lnSpc>
              </a:pPr>
              <a:r>
                <a:rPr lang="en-US" sz="189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Limited labled oil-spill data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287744" y="2110689"/>
              <a:ext cx="161719" cy="161719"/>
            </a:xfrm>
            <a:custGeom>
              <a:avLst/>
              <a:gdLst/>
              <a:ahLst/>
              <a:cxnLst/>
              <a:rect l="l" t="t" r="r" b="b"/>
              <a:pathLst>
                <a:path w="161719" h="161719">
                  <a:moveTo>
                    <a:pt x="0" y="0"/>
                  </a:moveTo>
                  <a:lnTo>
                    <a:pt x="161720" y="0"/>
                  </a:lnTo>
                  <a:lnTo>
                    <a:pt x="161720" y="161719"/>
                  </a:lnTo>
                  <a:lnTo>
                    <a:pt x="0" y="161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3" name="AutoShape 43"/>
            <p:cNvSpPr/>
            <p:nvPr/>
          </p:nvSpPr>
          <p:spPr>
            <a:xfrm>
              <a:off x="5657960" y="1509757"/>
              <a:ext cx="266736" cy="0"/>
            </a:xfrm>
            <a:prstGeom prst="line">
              <a:avLst/>
            </a:prstGeom>
            <a:ln w="53341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5657960" y="2218219"/>
              <a:ext cx="266736" cy="0"/>
            </a:xfrm>
            <a:prstGeom prst="line">
              <a:avLst/>
            </a:prstGeom>
            <a:ln w="53341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243736" y="27362"/>
              <a:ext cx="3802229" cy="736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18"/>
                </a:lnSpc>
              </a:pPr>
              <a:r>
                <a:rPr lang="en-US" sz="3298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MEDIUM RISK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80770" y="1195577"/>
              <a:ext cx="3770247" cy="1813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55"/>
                </a:lnSpc>
              </a:pPr>
              <a:r>
                <a:rPr lang="en-US" sz="189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Cloud+parallel processing</a:t>
              </a:r>
            </a:p>
            <a:p>
              <a:pPr algn="l">
                <a:lnSpc>
                  <a:spcPts val="3855"/>
                </a:lnSpc>
              </a:pPr>
              <a:r>
                <a:rPr lang="en-US" sz="189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Transfer learning + augmentation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655749" y="1487250"/>
            <a:ext cx="7389153" cy="1604616"/>
            <a:chOff x="0" y="0"/>
            <a:chExt cx="9852205" cy="2139488"/>
          </a:xfrm>
        </p:grpSpPr>
        <p:grpSp>
          <p:nvGrpSpPr>
            <p:cNvPr id="48" name="Group 48"/>
            <p:cNvGrpSpPr/>
            <p:nvPr/>
          </p:nvGrpSpPr>
          <p:grpSpPr>
            <a:xfrm>
              <a:off x="0" y="0"/>
              <a:ext cx="9852164" cy="2139488"/>
              <a:chOff x="0" y="0"/>
              <a:chExt cx="1853206" cy="402489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853206" cy="402489"/>
              </a:xfrm>
              <a:custGeom>
                <a:avLst/>
                <a:gdLst/>
                <a:ahLst/>
                <a:cxnLst/>
                <a:rect l="l" t="t" r="r" b="b"/>
                <a:pathLst>
                  <a:path w="1853206" h="402489">
                    <a:moveTo>
                      <a:pt x="1853206" y="22006"/>
                    </a:moveTo>
                    <a:lnTo>
                      <a:pt x="1853206" y="380484"/>
                    </a:lnTo>
                    <a:cubicBezTo>
                      <a:pt x="1853206" y="386320"/>
                      <a:pt x="1850887" y="391917"/>
                      <a:pt x="1846760" y="396044"/>
                    </a:cubicBezTo>
                    <a:cubicBezTo>
                      <a:pt x="1842634" y="400171"/>
                      <a:pt x="1837036" y="402489"/>
                      <a:pt x="1831200" y="402489"/>
                    </a:cubicBezTo>
                    <a:lnTo>
                      <a:pt x="22006" y="402489"/>
                    </a:lnTo>
                    <a:cubicBezTo>
                      <a:pt x="16169" y="402489"/>
                      <a:pt x="10572" y="400171"/>
                      <a:pt x="6445" y="396044"/>
                    </a:cubicBezTo>
                    <a:cubicBezTo>
                      <a:pt x="2318" y="391917"/>
                      <a:pt x="0" y="386320"/>
                      <a:pt x="0" y="380484"/>
                    </a:cubicBezTo>
                    <a:lnTo>
                      <a:pt x="0" y="22006"/>
                    </a:lnTo>
                    <a:cubicBezTo>
                      <a:pt x="0" y="16169"/>
                      <a:pt x="2318" y="10572"/>
                      <a:pt x="6445" y="6445"/>
                    </a:cubicBezTo>
                    <a:cubicBezTo>
                      <a:pt x="10572" y="2318"/>
                      <a:pt x="16169" y="0"/>
                      <a:pt x="22006" y="0"/>
                    </a:cubicBezTo>
                    <a:lnTo>
                      <a:pt x="1831200" y="0"/>
                    </a:lnTo>
                    <a:cubicBezTo>
                      <a:pt x="1837036" y="0"/>
                      <a:pt x="1842634" y="2318"/>
                      <a:pt x="1846760" y="6445"/>
                    </a:cubicBezTo>
                    <a:cubicBezTo>
                      <a:pt x="1850887" y="10572"/>
                      <a:pt x="1853206" y="16169"/>
                      <a:pt x="1853206" y="2200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CCE6B">
                      <a:alpha val="100000"/>
                    </a:srgbClr>
                  </a:gs>
                  <a:gs pos="100000">
                    <a:srgbClr val="D8FFD0">
                      <a:alpha val="100000"/>
                    </a:srgbClr>
                  </a:gs>
                </a:gsLst>
                <a:lin ang="5400000"/>
              </a:gradFill>
              <a:ln w="38100" cap="sq">
                <a:solidFill>
                  <a:srgbClr val="31B65D"/>
                </a:solidFill>
                <a:prstDash val="solid"/>
                <a:miter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19050"/>
                <a:ext cx="1853206" cy="4215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51" name="AutoShape 51"/>
            <p:cNvSpPr/>
            <p:nvPr/>
          </p:nvSpPr>
          <p:spPr>
            <a:xfrm flipV="1">
              <a:off x="20" y="853553"/>
              <a:ext cx="9852164" cy="7517"/>
            </a:xfrm>
            <a:prstGeom prst="line">
              <a:avLst/>
            </a:prstGeom>
            <a:ln w="53347" cap="flat">
              <a:solidFill>
                <a:srgbClr val="31B65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2" name="Freeform 52"/>
            <p:cNvSpPr/>
            <p:nvPr/>
          </p:nvSpPr>
          <p:spPr>
            <a:xfrm>
              <a:off x="316111" y="136824"/>
              <a:ext cx="629998" cy="629998"/>
            </a:xfrm>
            <a:custGeom>
              <a:avLst/>
              <a:gdLst/>
              <a:ahLst/>
              <a:cxnLst/>
              <a:rect l="l" t="t" r="r" b="b"/>
              <a:pathLst>
                <a:path w="629998" h="629998">
                  <a:moveTo>
                    <a:pt x="0" y="0"/>
                  </a:moveTo>
                  <a:lnTo>
                    <a:pt x="629998" y="0"/>
                  </a:lnTo>
                  <a:lnTo>
                    <a:pt x="629998" y="629998"/>
                  </a:lnTo>
                  <a:lnTo>
                    <a:pt x="0" y="629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1243265" y="30275"/>
              <a:ext cx="6069743" cy="7365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18"/>
                </a:lnSpc>
              </a:pPr>
              <a:r>
                <a:rPr lang="en-US" sz="32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LOW / MANAGED RISK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8400" y="1052233"/>
              <a:ext cx="5985723" cy="533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56"/>
                </a:lnSpc>
              </a:pPr>
              <a:r>
                <a:rPr lang="en-US" sz="189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Cloud cover in optical imagery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316111" y="1318936"/>
              <a:ext cx="161739" cy="161739"/>
            </a:xfrm>
            <a:custGeom>
              <a:avLst/>
              <a:gdLst/>
              <a:ahLst/>
              <a:cxnLst/>
              <a:rect l="l" t="t" r="r" b="b"/>
              <a:pathLst>
                <a:path w="161739" h="161739">
                  <a:moveTo>
                    <a:pt x="0" y="0"/>
                  </a:moveTo>
                  <a:lnTo>
                    <a:pt x="161738" y="0"/>
                  </a:lnTo>
                  <a:lnTo>
                    <a:pt x="161738" y="161739"/>
                  </a:lnTo>
                  <a:lnTo>
                    <a:pt x="0" y="161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6" name="AutoShape 56"/>
            <p:cNvSpPr/>
            <p:nvPr/>
          </p:nvSpPr>
          <p:spPr>
            <a:xfrm>
              <a:off x="5594398" y="1399805"/>
              <a:ext cx="266768" cy="0"/>
            </a:xfrm>
            <a:prstGeom prst="line">
              <a:avLst/>
            </a:prstGeom>
            <a:ln w="53347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81490" y="1052233"/>
              <a:ext cx="3770694" cy="533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56"/>
                </a:lnSpc>
              </a:pPr>
              <a:r>
                <a:rPr lang="en-US" sz="189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Sentinel-1 SAR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808369"/>
            <a:ext cx="18288000" cy="478631"/>
            <a:chOff x="0" y="0"/>
            <a:chExt cx="24384000" cy="6381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638175"/>
            </a:xfrm>
            <a:custGeom>
              <a:avLst/>
              <a:gdLst/>
              <a:ahLst/>
              <a:cxnLst/>
              <a:rect l="l" t="t" r="r" b="b"/>
              <a:pathLst>
                <a:path w="24384000" h="638175">
                  <a:moveTo>
                    <a:pt x="0" y="0"/>
                  </a:moveTo>
                  <a:lnTo>
                    <a:pt x="24384000" y="0"/>
                  </a:lnTo>
                  <a:lnTo>
                    <a:pt x="24384000" y="638175"/>
                  </a:lnTo>
                  <a:lnTo>
                    <a:pt x="0" y="6381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60781" y="2248"/>
            <a:ext cx="16459200" cy="1089862"/>
            <a:chOff x="0" y="0"/>
            <a:chExt cx="21945600" cy="14531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453149"/>
            </a:xfrm>
            <a:custGeom>
              <a:avLst/>
              <a:gdLst/>
              <a:ahLst/>
              <a:cxnLst/>
              <a:rect l="l" t="t" r="r" b="b"/>
              <a:pathLst>
                <a:path w="21945600" h="1453149">
                  <a:moveTo>
                    <a:pt x="0" y="0"/>
                  </a:moveTo>
                  <a:lnTo>
                    <a:pt x="21945600" y="0"/>
                  </a:lnTo>
                  <a:lnTo>
                    <a:pt x="21945600" y="1453149"/>
                  </a:lnTo>
                  <a:lnTo>
                    <a:pt x="0" y="1453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608" b="-2729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1481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777703" y="9808369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808369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395810" y="2248"/>
            <a:ext cx="2649093" cy="1250851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0452" y="68799"/>
            <a:ext cx="1816495" cy="1184300"/>
            <a:chOff x="0" y="0"/>
            <a:chExt cx="2554516" cy="1665468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ByteCoders.</a:t>
              </a:r>
            </a:p>
          </p:txBody>
        </p:sp>
      </p:grpSp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120452" y="1480296"/>
          <a:ext cx="11657848" cy="8100875"/>
        </p:xfrm>
        <a:graphic>
          <a:graphicData uri="http://schemas.openxmlformats.org/drawingml/2006/table">
            <a:tbl>
              <a:tblPr/>
              <a:tblGrid>
                <a:gridCol w="3289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9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8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8198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BFCF9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Impact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Key Benefits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Key Benificiary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2522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Regulatory &amp; Enforcement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Supports potential vessel identification through satellite–AIS correlation. Provides evidence-backed reports for investigations and improves maritime accountability.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Indian Coast Guard, DG Shipping, pollution-control authorities, maritime law-enforcement agencies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1107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Operational Benefits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Enables automated oil-spill detection, hindcasting, forecasting, real-time alerts and interactive monitoring for faster emergency response.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Indian Coast Guard, port authorities, disaster-management agencies, oil-spill response teams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8383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Environmental Impact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Supports early detection, faster containment and protection of marine biodiversity, fisheries, coral reefs, mangroves and coastal habitats.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Ministry of Environment, Forest and Climate Change, State Pollution Control Boards, marine research institutes, coastal communities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0665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Economic &amp; Social Benefits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Reduces cleanup costs and losses in shipping, tourism and fisheries while protecting coastal livelihoods and supporting the blue economy.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Fishing communities, shipping companies, port operators, tourism industry, insurance companies, coastal-state governments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9" name="Group 19"/>
          <p:cNvGrpSpPr/>
          <p:nvPr/>
        </p:nvGrpSpPr>
        <p:grpSpPr>
          <a:xfrm>
            <a:off x="12003777" y="1469701"/>
            <a:ext cx="5955605" cy="7798124"/>
            <a:chOff x="0" y="0"/>
            <a:chExt cx="7940807" cy="10397498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3340268"/>
              <a:ext cx="3585975" cy="3585975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F65">
                      <a:alpha val="71000"/>
                    </a:srgbClr>
                  </a:gs>
                  <a:gs pos="100000">
                    <a:srgbClr val="6895FD">
                      <a:alpha val="71000"/>
                    </a:srgbClr>
                  </a:gs>
                </a:gsLst>
                <a:lin ang="5400000"/>
              </a:gradFill>
              <a:ln w="38100" cap="sq">
                <a:solidFill>
                  <a:srgbClr val="000000">
                    <a:alpha val="70980"/>
                  </a:srgbClr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339399" y="26827"/>
              <a:ext cx="1735612" cy="1735612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308496" y="2991404"/>
              <a:ext cx="1735612" cy="1735612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958208" y="6567083"/>
              <a:ext cx="1735612" cy="1735612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2068948" y="8661886"/>
              <a:ext cx="1735612" cy="1735612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462484" y="3850373"/>
              <a:ext cx="2898572" cy="2524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44"/>
                </a:lnSpc>
              </a:pPr>
              <a:r>
                <a:rPr lang="en-US" sz="212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Beneficiary of </a:t>
              </a:r>
            </a:p>
            <a:p>
              <a:pPr algn="ctr">
                <a:lnSpc>
                  <a:spcPts val="2544"/>
                </a:lnSpc>
              </a:pPr>
              <a:r>
                <a:rPr lang="en-US" sz="212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AI-Powered </a:t>
              </a:r>
            </a:p>
            <a:p>
              <a:pPr algn="ctr">
                <a:lnSpc>
                  <a:spcPts val="2544"/>
                </a:lnSpc>
                <a:spcBef>
                  <a:spcPct val="0"/>
                </a:spcBef>
              </a:pPr>
              <a:r>
                <a:rPr lang="en-US" sz="212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Maritime Oil-Spill Detection and Prediction System</a:t>
              </a:r>
            </a:p>
          </p:txBody>
        </p:sp>
        <p:sp>
          <p:nvSpPr>
            <p:cNvPr id="36" name="AutoShape 36"/>
            <p:cNvSpPr/>
            <p:nvPr/>
          </p:nvSpPr>
          <p:spPr>
            <a:xfrm>
              <a:off x="2093690" y="6901138"/>
              <a:ext cx="475485" cy="1842214"/>
            </a:xfrm>
            <a:prstGeom prst="line">
              <a:avLst/>
            </a:prstGeom>
            <a:ln w="47813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7" name="AutoShape 37"/>
            <p:cNvSpPr/>
            <p:nvPr/>
          </p:nvSpPr>
          <p:spPr>
            <a:xfrm flipV="1">
              <a:off x="3485300" y="4161954"/>
              <a:ext cx="1877465" cy="377470"/>
            </a:xfrm>
            <a:prstGeom prst="line">
              <a:avLst/>
            </a:prstGeom>
            <a:ln w="47813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3207205" y="6235564"/>
              <a:ext cx="1790183" cy="940737"/>
            </a:xfrm>
            <a:prstGeom prst="line">
              <a:avLst/>
            </a:prstGeom>
            <a:ln w="47813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9" name="AutoShape 39"/>
            <p:cNvSpPr/>
            <p:nvPr/>
          </p:nvSpPr>
          <p:spPr>
            <a:xfrm flipV="1">
              <a:off x="2131794" y="1718311"/>
              <a:ext cx="801457" cy="1653923"/>
            </a:xfrm>
            <a:prstGeom prst="line">
              <a:avLst/>
            </a:prstGeom>
            <a:ln w="47813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02605" y="-19050"/>
              <a:ext cx="4038202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5"/>
                </a:lnSpc>
              </a:pPr>
              <a:r>
                <a:rPr lang="en-US" sz="1788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Government &amp; Regulatory</a:t>
              </a:r>
            </a:p>
            <a:p>
              <a:pPr algn="ctr">
                <a:lnSpc>
                  <a:spcPts val="2145"/>
                </a:lnSpc>
                <a:spcBef>
                  <a:spcPct val="0"/>
                </a:spcBef>
              </a:pPr>
              <a:r>
                <a:rPr lang="en-US" sz="1788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Authorities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86060" y="2042867"/>
              <a:ext cx="3554747" cy="781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58"/>
                </a:lnSpc>
                <a:spcBef>
                  <a:spcPct val="0"/>
                </a:spcBef>
              </a:pPr>
              <a:r>
                <a:rPr lang="en-US" sz="1882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Maritime &amp; Port Operator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96144" y="5676833"/>
              <a:ext cx="3554747" cy="781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58"/>
                </a:lnSpc>
                <a:spcBef>
                  <a:spcPct val="0"/>
                </a:spcBef>
              </a:pPr>
              <a:r>
                <a:rPr lang="en-US" sz="1882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Environmental &amp; Research 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57019" y="8582476"/>
              <a:ext cx="2802379" cy="781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58"/>
                </a:lnSpc>
                <a:spcBef>
                  <a:spcPct val="0"/>
                </a:spcBef>
              </a:pPr>
              <a:r>
                <a:rPr lang="en-US" sz="1882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Economic &amp; Social</a:t>
              </a:r>
            </a:p>
          </p:txBody>
        </p:sp>
      </p:grpSp>
      <p:sp>
        <p:nvSpPr>
          <p:cNvPr id="44" name="Freeform 44"/>
          <p:cNvSpPr/>
          <p:nvPr/>
        </p:nvSpPr>
        <p:spPr>
          <a:xfrm>
            <a:off x="13949550" y="1706741"/>
            <a:ext cx="901036" cy="801922"/>
          </a:xfrm>
          <a:custGeom>
            <a:avLst/>
            <a:gdLst/>
            <a:ahLst/>
            <a:cxnLst/>
            <a:rect l="l" t="t" r="r" b="b"/>
            <a:pathLst>
              <a:path w="901036" h="801922">
                <a:moveTo>
                  <a:pt x="0" y="0"/>
                </a:moveTo>
                <a:lnTo>
                  <a:pt x="901037" y="0"/>
                </a:lnTo>
                <a:lnTo>
                  <a:pt x="901037" y="801923"/>
                </a:lnTo>
                <a:lnTo>
                  <a:pt x="0" y="801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6102299" y="3862837"/>
            <a:ext cx="1022292" cy="1022292"/>
          </a:xfrm>
          <a:custGeom>
            <a:avLst/>
            <a:gdLst/>
            <a:ahLst/>
            <a:cxnLst/>
            <a:rect l="l" t="t" r="r" b="b"/>
            <a:pathLst>
              <a:path w="1022292" h="1022292">
                <a:moveTo>
                  <a:pt x="0" y="0"/>
                </a:moveTo>
                <a:lnTo>
                  <a:pt x="1022292" y="0"/>
                </a:lnTo>
                <a:lnTo>
                  <a:pt x="1022292" y="1022291"/>
                </a:lnTo>
                <a:lnTo>
                  <a:pt x="0" y="1022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3777703" y="8221498"/>
            <a:ext cx="832923" cy="753795"/>
          </a:xfrm>
          <a:custGeom>
            <a:avLst/>
            <a:gdLst/>
            <a:ahLst/>
            <a:cxnLst/>
            <a:rect l="l" t="t" r="r" b="b"/>
            <a:pathLst>
              <a:path w="832923" h="753795">
                <a:moveTo>
                  <a:pt x="0" y="0"/>
                </a:moveTo>
                <a:lnTo>
                  <a:pt x="832923" y="0"/>
                </a:lnTo>
                <a:lnTo>
                  <a:pt x="832923" y="753796"/>
                </a:lnTo>
                <a:lnTo>
                  <a:pt x="0" y="7537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5934810" y="6590971"/>
            <a:ext cx="785546" cy="831265"/>
          </a:xfrm>
          <a:custGeom>
            <a:avLst/>
            <a:gdLst/>
            <a:ahLst/>
            <a:cxnLst/>
            <a:rect l="l" t="t" r="r" b="b"/>
            <a:pathLst>
              <a:path w="785546" h="831265">
                <a:moveTo>
                  <a:pt x="0" y="0"/>
                </a:moveTo>
                <a:lnTo>
                  <a:pt x="785546" y="0"/>
                </a:lnTo>
                <a:lnTo>
                  <a:pt x="785546" y="831266"/>
                </a:lnTo>
                <a:lnTo>
                  <a:pt x="0" y="831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460178" y="-58044"/>
            <a:ext cx="2659286" cy="125566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0" y="2248"/>
            <a:ext cx="1816495" cy="1184300"/>
            <a:chOff x="0" y="0"/>
            <a:chExt cx="2554516" cy="1665468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ByteCoders.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11480" y="1419932"/>
            <a:ext cx="8444596" cy="783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Detecting oil spills at marine environment using ais and satellite datasets(2025):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5" tooltip="https://computersciencejournal.org/wp-content/uploads/10-JCS1684.pdf"/>
              </a:rPr>
              <a:t>https://computersciencejournal.org/wp-content/uploads/10-JCS1684.pdf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Novel Deep learning method for marine oil spill detection from satellite SAR imagery: 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6" tooltip="https://www.sciencedirect.com/science/article/abs/pii/S0025326X22003484"/>
              </a:rPr>
              <a:t>https://www.sciencedirect.com/science/article/abs/pii/S0025326X22003484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spill identification from satellite images using deep neural networks MDPI/Remote Sensing: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7" tooltip="https://www.mdpi.com/2072-4292/11/15/1762"/>
              </a:rPr>
              <a:t>https://www.mdpi.com/2072-4292/11/15/1762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Exploiting AIS data for intelligent Maritime Navigation : A comprehensive survey (2018)-IEEE DOI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drift: a generic framework for trajectory modelling :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8" tooltip="https://opendrift.github.io"/>
              </a:rPr>
              <a:t>https://opendrift.github.io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Copernicus Sentinel-1 &amp; sentinel-2 (ESA):Earth observation satellite providing SAR and optical data for oil spill detection: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9" tooltip="https://www.esa.int/Applications/Observing_the_Earth/Copernicus"/>
              </a:rPr>
              <a:t>https://www.esa.int/Applications/Observing_the_Earth/Copernicus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earth engine : Cloud platform for planetary scale geospatial analysis and satellite data processing: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10" tooltip="https://earthengine.google.com"/>
              </a:rPr>
              <a:t>https://earthengine.google.com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Copernicus marine service : Provides ocean currents, waves and environmental data for modelling: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11" tooltip="https://marine.copernicus.eu"/>
              </a:rPr>
              <a:t>https://marine.copernicus.eu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AIShub Acces to global AIS data including vessel positions,identities and trajectories: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12" tooltip="https://www.aishub.net"/>
              </a:rPr>
              <a:t>https://www.aishub.net</a:t>
            </a:r>
          </a:p>
          <a:p>
            <a:pPr marL="430538" lvl="1" indent="-215269" algn="l">
              <a:lnSpc>
                <a:spcPts val="2392"/>
              </a:lnSpc>
              <a:buFont typeface="Arial"/>
              <a:buChar char="•"/>
            </a:pPr>
            <a:r>
              <a:rPr lang="en-US" sz="19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Marine Traffic: Real time AIS vessel tracking and maritime intelligence platform:</a:t>
            </a:r>
            <a:r>
              <a:rPr lang="en-US" sz="1994" u="sng">
                <a:solidFill>
                  <a:srgbClr val="5AA6DD"/>
                </a:solidFill>
                <a:latin typeface="Arial"/>
                <a:ea typeface="Arial"/>
                <a:cs typeface="Arial"/>
                <a:sym typeface="Arial"/>
                <a:hlinkClick r:id="rId13" tooltip="https://www.marinetraffic.com/en/ais/home/centerx:-12.0/centery:25.0/zoom:4"/>
              </a:rPr>
              <a:t>https://www.marinetraffic.com/en/ais/home/centerx:-12.0/centery:25.0/zoom:4</a:t>
            </a:r>
          </a:p>
        </p:txBody>
      </p: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9144000" y="1419932"/>
          <a:ext cx="8923669" cy="7562850"/>
        </p:xfrm>
        <a:graphic>
          <a:graphicData uri="http://schemas.openxmlformats.org/drawingml/2006/table">
            <a:tbl>
              <a:tblPr/>
              <a:tblGrid>
                <a:gridCol w="2974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4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4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29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Existing Solution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C2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What It Does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C2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Limitation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C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0396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EMSA CleanSeaNet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Satellite-based oil pollution monitoring and vessel detection.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Mainly Europe-focused; limited public access.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47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NOAA GNOME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Simulates oil-spill movement using wind and currents.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Does not identify the responsible vessel.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396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OpenDrift / OpenOil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Open-source oil trajectory hindcasting and forecasting.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Requires accurate environmental data and calibration.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347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Sentinel-1 SAR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Detects possible oil slicks day and night, through clouds.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Cannot reliably distinguish all look-alikes.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347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Sentinel-2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Provides optical and multispectral spill validation.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Limited by clouds, haze and sunlight.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347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MarineTraffic / AISHub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Provides AIS-based vessel positions and trajectories.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gaps, spoofing and access restrictions.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347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Google Earth Engine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Processes large-scale satellite and geospatial datasets.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a complete oil-spill attribution system.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50396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Our Proposed Solution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Integrates satellite, AI, ocean modelling and AIS for vessel ranking.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Requires human verification; does not prove legal guilt.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1225</Words>
  <Application>Microsoft Office PowerPoint</Application>
  <PresentationFormat>Custom</PresentationFormat>
  <Paragraphs>179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Times New Roman Bold</vt:lpstr>
      <vt:lpstr>Garamond Bold</vt:lpstr>
      <vt:lpstr>Calibri</vt:lpstr>
      <vt:lpstr>Arimo</vt:lpstr>
      <vt:lpstr>Arial Bold</vt:lpstr>
      <vt:lpstr>Calibri (MS)</vt:lpstr>
      <vt:lpstr>Arial</vt:lpstr>
      <vt:lpstr>Canva Sans Bold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SIH-Oil-Spill-Idea.pptx</dc:title>
  <dc:creator>Nikhil</dc:creator>
  <cp:lastModifiedBy>Nikhil singh</cp:lastModifiedBy>
  <cp:revision>1</cp:revision>
  <dcterms:created xsi:type="dcterms:W3CDTF">2006-08-16T00:00:00Z</dcterms:created>
  <dcterms:modified xsi:type="dcterms:W3CDTF">2026-09-21T10:33:26Z</dcterms:modified>
  <dc:identifier>DAHTCqAwaZ4</dc:identifier>
</cp:coreProperties>
</file>