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6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Calibri (MS)" charset="1" panose="020F0502020204030204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earthengine.google.com" TargetMode="External" Type="http://schemas.openxmlformats.org/officeDocument/2006/relationships/hyperlink"/><Relationship Id="rId11" Target="https://marine.copernicus.eu" TargetMode="External" Type="http://schemas.openxmlformats.org/officeDocument/2006/relationships/hyperlink"/><Relationship Id="rId12" Target="https://www.aishub.net" TargetMode="External" Type="http://schemas.openxmlformats.org/officeDocument/2006/relationships/hyperlink"/><Relationship Id="rId13" Target="https://www.marinetraffic.com" TargetMode="External" Type="http://schemas.openxmlformats.org/officeDocument/2006/relationships/hyperlink"/><Relationship Id="rId14" Target="../media/image5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https://computersciencejournal.org/wp-content/uploads/10-JCS1684.pdf" TargetMode="External" Type="http://schemas.openxmlformats.org/officeDocument/2006/relationships/hyperlink"/><Relationship Id="rId5" Target="https://www.sciencedirect.com/science/article/abs/pii/S0025326X22003484" TargetMode="External" Type="http://schemas.openxmlformats.org/officeDocument/2006/relationships/hyperlink"/><Relationship Id="rId6" Target="https://doi.org/10.1109/TITS.2017.2724551" TargetMode="External" Type="http://schemas.openxmlformats.org/officeDocument/2006/relationships/hyperlink"/><Relationship Id="rId7" Target="https://www.mdpi.com/2072-4292/11/15/1762" TargetMode="External" Type="http://schemas.openxmlformats.org/officeDocument/2006/relationships/hyperlink"/><Relationship Id="rId8" Target="https://opendrift.github.io" TargetMode="External" Type="http://schemas.openxmlformats.org/officeDocument/2006/relationships/hyperlink"/><Relationship Id="rId9" Target="https://www.esa.int/Applications/Observing_the_Earth/Copernicus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6995" y="1347378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81648" y="2860182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6929" y="3164579"/>
            <a:ext cx="11815426" cy="680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0"/>
              </a:lnSpc>
            </a:pPr>
          </a:p>
          <a:p>
            <a:pPr algn="just" marL="565512" indent="-282756" lvl="1">
              <a:lnSpc>
                <a:spcPts val="6030"/>
              </a:lnSpc>
              <a:buFont typeface="Arial"/>
              <a:buChar char="•"/>
            </a:pPr>
            <a:r>
              <a:rPr lang="en-US" b="true" sz="31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SIH26143</a:t>
            </a:r>
          </a:p>
          <a:p>
            <a:pPr algn="just" marL="565512" indent="-282756" lvl="1">
              <a:lnSpc>
                <a:spcPts val="6030"/>
              </a:lnSpc>
              <a:buFont typeface="Arial"/>
              <a:buChar char="•"/>
            </a:pPr>
            <a:r>
              <a:rPr lang="en-US" b="true" sz="31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Leveraging satellite imagery to determine oil spills at sea along with AIS data correlations to identify the vessel responsible for the spill</a:t>
            </a:r>
          </a:p>
          <a:p>
            <a:pPr algn="just" marL="565512" indent="-282756" lvl="1">
              <a:lnSpc>
                <a:spcPts val="6030"/>
              </a:lnSpc>
              <a:buFont typeface="Arial"/>
              <a:buChar char="•"/>
            </a:pPr>
            <a:r>
              <a:rPr lang="en-US" b="true" sz="31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 Technology</a:t>
            </a:r>
          </a:p>
          <a:p>
            <a:pPr algn="just" marL="565512" indent="-282756" lvl="1">
              <a:lnSpc>
                <a:spcPts val="6030"/>
              </a:lnSpc>
              <a:buFont typeface="Arial"/>
              <a:buChar char="•"/>
            </a:pPr>
            <a:r>
              <a:rPr lang="en-US" b="true" sz="31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565512" indent="-282756" lvl="1">
              <a:lnSpc>
                <a:spcPts val="6030"/>
              </a:lnSpc>
              <a:buFont typeface="Arial"/>
              <a:buChar char="•"/>
            </a:pPr>
            <a:r>
              <a:rPr lang="en-US" b="true" sz="31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[Insert Team ID]</a:t>
            </a:r>
          </a:p>
          <a:p>
            <a:pPr algn="just" marL="565512" indent="-282756" lvl="1">
              <a:lnSpc>
                <a:spcPts val="6030"/>
              </a:lnSpc>
              <a:buFont typeface="Arial"/>
              <a:buChar char="•"/>
            </a:pPr>
            <a:r>
              <a:rPr lang="en-US" b="true" sz="312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1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ByteCoders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73976" y="42002"/>
            <a:ext cx="12239524" cy="681092"/>
            <a:chOff x="0" y="0"/>
            <a:chExt cx="16945585" cy="9429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45578" cy="942969"/>
            </a:xfrm>
            <a:custGeom>
              <a:avLst/>
              <a:gdLst/>
              <a:ahLst/>
              <a:cxnLst/>
              <a:rect r="r" b="b" t="t" l="l"/>
              <a:pathLst>
                <a:path h="942969" w="16945578">
                  <a:moveTo>
                    <a:pt x="0" y="0"/>
                  </a:moveTo>
                  <a:lnTo>
                    <a:pt x="16945578" y="0"/>
                  </a:lnTo>
                  <a:lnTo>
                    <a:pt x="16945578" y="942969"/>
                  </a:lnTo>
                  <a:lnTo>
                    <a:pt x="0" y="942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403" r="5580" b="-3518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6945585" cy="9620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Satellite–AIS Fusion for Oil Spill Detection &amp; Vessel Attribution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873976" y="723094"/>
            <a:ext cx="12540048" cy="351928"/>
          </a:xfrm>
          <a:custGeom>
            <a:avLst/>
            <a:gdLst/>
            <a:ahLst/>
            <a:cxnLst/>
            <a:rect r="r" b="b" t="t" l="l"/>
            <a:pathLst>
              <a:path h="351928" w="12540048">
                <a:moveTo>
                  <a:pt x="0" y="0"/>
                </a:moveTo>
                <a:lnTo>
                  <a:pt x="12540048" y="0"/>
                </a:lnTo>
                <a:lnTo>
                  <a:pt x="12540048" y="351928"/>
                </a:lnTo>
                <a:lnTo>
                  <a:pt x="0" y="351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650" r="0" b="-2263843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391499" y="1047698"/>
            <a:ext cx="12404679" cy="548054"/>
          </a:xfrm>
          <a:custGeom>
            <a:avLst/>
            <a:gdLst/>
            <a:ahLst/>
            <a:cxnLst/>
            <a:rect r="r" b="b" t="t" l="l"/>
            <a:pathLst>
              <a:path h="548054" w="12404679">
                <a:moveTo>
                  <a:pt x="0" y="0"/>
                </a:moveTo>
                <a:lnTo>
                  <a:pt x="12404679" y="0"/>
                </a:lnTo>
                <a:lnTo>
                  <a:pt x="12404679" y="548054"/>
                </a:lnTo>
                <a:lnTo>
                  <a:pt x="0" y="54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34" t="-84112" r="-12932" b="-167893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78979" y="1595752"/>
            <a:ext cx="1906216" cy="3493492"/>
          </a:xfrm>
          <a:custGeom>
            <a:avLst/>
            <a:gdLst/>
            <a:ahLst/>
            <a:cxnLst/>
            <a:rect r="r" b="b" t="t" l="l"/>
            <a:pathLst>
              <a:path h="3493492" w="1906216">
                <a:moveTo>
                  <a:pt x="0" y="0"/>
                </a:moveTo>
                <a:lnTo>
                  <a:pt x="1906215" y="0"/>
                </a:lnTo>
                <a:lnTo>
                  <a:pt x="1906215" y="3493491"/>
                </a:lnTo>
                <a:lnTo>
                  <a:pt x="0" y="349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837" t="-23396" r="-537012" b="-11590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723714" y="5101914"/>
            <a:ext cx="12516286" cy="688977"/>
          </a:xfrm>
          <a:custGeom>
            <a:avLst/>
            <a:gdLst/>
            <a:ahLst/>
            <a:cxnLst/>
            <a:rect r="r" b="b" t="t" l="l"/>
            <a:pathLst>
              <a:path h="688977" w="12516286">
                <a:moveTo>
                  <a:pt x="0" y="0"/>
                </a:moveTo>
                <a:lnTo>
                  <a:pt x="12516286" y="0"/>
                </a:lnTo>
                <a:lnTo>
                  <a:pt x="12516286" y="688976"/>
                </a:lnTo>
                <a:lnTo>
                  <a:pt x="0" y="6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1542" r="-189" b="-47185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78979" y="5845529"/>
            <a:ext cx="3675292" cy="2794329"/>
          </a:xfrm>
          <a:custGeom>
            <a:avLst/>
            <a:gdLst/>
            <a:ahLst/>
            <a:cxnLst/>
            <a:rect r="r" b="b" t="t" l="l"/>
            <a:pathLst>
              <a:path h="2794329" w="3675292">
                <a:moveTo>
                  <a:pt x="0" y="0"/>
                </a:moveTo>
                <a:lnTo>
                  <a:pt x="3675292" y="0"/>
                </a:lnTo>
                <a:lnTo>
                  <a:pt x="3675292" y="2794329"/>
                </a:lnTo>
                <a:lnTo>
                  <a:pt x="0" y="2794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75" t="-233943" r="-315115" b="-40198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72257" y="1595752"/>
            <a:ext cx="2205376" cy="3493492"/>
          </a:xfrm>
          <a:custGeom>
            <a:avLst/>
            <a:gdLst/>
            <a:ahLst/>
            <a:cxnLst/>
            <a:rect r="r" b="b" t="t" l="l"/>
            <a:pathLst>
              <a:path h="3493492" w="2205376">
                <a:moveTo>
                  <a:pt x="0" y="0"/>
                </a:moveTo>
                <a:lnTo>
                  <a:pt x="2205377" y="0"/>
                </a:lnTo>
                <a:lnTo>
                  <a:pt x="2205377" y="3493491"/>
                </a:lnTo>
                <a:lnTo>
                  <a:pt x="0" y="349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6456" t="-23396" r="-352156" b="-115906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778984" y="1595752"/>
            <a:ext cx="2239284" cy="3493492"/>
          </a:xfrm>
          <a:custGeom>
            <a:avLst/>
            <a:gdLst/>
            <a:ahLst/>
            <a:cxnLst/>
            <a:rect r="r" b="b" t="t" l="l"/>
            <a:pathLst>
              <a:path h="3493492" w="2239284">
                <a:moveTo>
                  <a:pt x="0" y="0"/>
                </a:moveTo>
                <a:lnTo>
                  <a:pt x="2239284" y="0"/>
                </a:lnTo>
                <a:lnTo>
                  <a:pt x="2239284" y="3493491"/>
                </a:lnTo>
                <a:lnTo>
                  <a:pt x="0" y="349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4438" t="-23396" r="-235564" b="-11590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024477" y="1608422"/>
            <a:ext cx="2285077" cy="3493492"/>
          </a:xfrm>
          <a:custGeom>
            <a:avLst/>
            <a:gdLst/>
            <a:ahLst/>
            <a:cxnLst/>
            <a:rect r="r" b="b" t="t" l="l"/>
            <a:pathLst>
              <a:path h="3493492" w="2285077">
                <a:moveTo>
                  <a:pt x="0" y="0"/>
                </a:moveTo>
                <a:lnTo>
                  <a:pt x="2285077" y="0"/>
                </a:lnTo>
                <a:lnTo>
                  <a:pt x="2285077" y="3493492"/>
                </a:lnTo>
                <a:lnTo>
                  <a:pt x="0" y="349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130" t="-23396" r="-120649" b="-115906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344337" y="1595752"/>
            <a:ext cx="2293755" cy="3493492"/>
          </a:xfrm>
          <a:custGeom>
            <a:avLst/>
            <a:gdLst/>
            <a:ahLst/>
            <a:cxnLst/>
            <a:rect r="r" b="b" t="t" l="l"/>
            <a:pathLst>
              <a:path h="3493492" w="2293755">
                <a:moveTo>
                  <a:pt x="0" y="0"/>
                </a:moveTo>
                <a:lnTo>
                  <a:pt x="2293755" y="0"/>
                </a:lnTo>
                <a:lnTo>
                  <a:pt x="2293755" y="3493491"/>
                </a:lnTo>
                <a:lnTo>
                  <a:pt x="0" y="349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7877" t="-23396" r="-8826" b="-115906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15675" y="1598897"/>
            <a:ext cx="272784" cy="3493492"/>
          </a:xfrm>
          <a:custGeom>
            <a:avLst/>
            <a:gdLst/>
            <a:ahLst/>
            <a:cxnLst/>
            <a:rect r="r" b="b" t="t" l="l"/>
            <a:pathLst>
              <a:path h="3493492" w="272784">
                <a:moveTo>
                  <a:pt x="0" y="0"/>
                </a:moveTo>
                <a:lnTo>
                  <a:pt x="272784" y="0"/>
                </a:lnTo>
                <a:lnTo>
                  <a:pt x="272784" y="3493492"/>
                </a:lnTo>
                <a:lnTo>
                  <a:pt x="0" y="3493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42414" t="-23396" r="-2754649" b="-115906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00079" y="1595752"/>
            <a:ext cx="272784" cy="3493492"/>
          </a:xfrm>
          <a:custGeom>
            <a:avLst/>
            <a:gdLst/>
            <a:ahLst/>
            <a:cxnLst/>
            <a:rect r="r" b="b" t="t" l="l"/>
            <a:pathLst>
              <a:path h="3493492" w="272784">
                <a:moveTo>
                  <a:pt x="0" y="0"/>
                </a:moveTo>
                <a:lnTo>
                  <a:pt x="272783" y="0"/>
                </a:lnTo>
                <a:lnTo>
                  <a:pt x="272783" y="3493491"/>
                </a:lnTo>
                <a:lnTo>
                  <a:pt x="0" y="349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42414" t="-23396" r="-2754649" b="-11590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61168" y="1595752"/>
            <a:ext cx="272784" cy="3493492"/>
          </a:xfrm>
          <a:custGeom>
            <a:avLst/>
            <a:gdLst/>
            <a:ahLst/>
            <a:cxnLst/>
            <a:rect r="r" b="b" t="t" l="l"/>
            <a:pathLst>
              <a:path h="3493492" w="272784">
                <a:moveTo>
                  <a:pt x="0" y="0"/>
                </a:moveTo>
                <a:lnTo>
                  <a:pt x="272784" y="0"/>
                </a:lnTo>
                <a:lnTo>
                  <a:pt x="272784" y="3493491"/>
                </a:lnTo>
                <a:lnTo>
                  <a:pt x="0" y="349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42414" t="-23396" r="-2754649" b="-115906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908949" y="1595752"/>
            <a:ext cx="272784" cy="3493492"/>
          </a:xfrm>
          <a:custGeom>
            <a:avLst/>
            <a:gdLst/>
            <a:ahLst/>
            <a:cxnLst/>
            <a:rect r="r" b="b" t="t" l="l"/>
            <a:pathLst>
              <a:path h="3493492" w="272784">
                <a:moveTo>
                  <a:pt x="0" y="0"/>
                </a:moveTo>
                <a:lnTo>
                  <a:pt x="272783" y="0"/>
                </a:lnTo>
                <a:lnTo>
                  <a:pt x="272783" y="3493491"/>
                </a:lnTo>
                <a:lnTo>
                  <a:pt x="0" y="349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42414" t="-23396" r="-2754649" b="-11590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78979" y="8719273"/>
            <a:ext cx="2675199" cy="688342"/>
          </a:xfrm>
          <a:custGeom>
            <a:avLst/>
            <a:gdLst/>
            <a:ahLst/>
            <a:cxnLst/>
            <a:rect r="r" b="b" t="t" l="l"/>
            <a:pathLst>
              <a:path h="688342" w="2675199">
                <a:moveTo>
                  <a:pt x="0" y="0"/>
                </a:moveTo>
                <a:lnTo>
                  <a:pt x="2675199" y="0"/>
                </a:lnTo>
                <a:lnTo>
                  <a:pt x="2675199" y="688342"/>
                </a:lnTo>
                <a:lnTo>
                  <a:pt x="0" y="688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251" t="-1506421" r="-502788" b="-46715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609871" y="6131084"/>
            <a:ext cx="9114288" cy="2412937"/>
          </a:xfrm>
          <a:custGeom>
            <a:avLst/>
            <a:gdLst/>
            <a:ahLst/>
            <a:cxnLst/>
            <a:rect r="r" b="b" t="t" l="l"/>
            <a:pathLst>
              <a:path h="2412937" w="9114288">
                <a:moveTo>
                  <a:pt x="0" y="0"/>
                </a:moveTo>
                <a:lnTo>
                  <a:pt x="9114288" y="0"/>
                </a:lnTo>
                <a:lnTo>
                  <a:pt x="9114288" y="2412937"/>
                </a:lnTo>
                <a:lnTo>
                  <a:pt x="0" y="2412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86" t="-213724" r="0" b="-32742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-946620">
            <a:off x="7702650" y="6831340"/>
            <a:ext cx="911428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Yahan apna dashboard hoga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978619" y="8749101"/>
            <a:ext cx="2501024" cy="628685"/>
          </a:xfrm>
          <a:custGeom>
            <a:avLst/>
            <a:gdLst/>
            <a:ahLst/>
            <a:cxnLst/>
            <a:rect r="r" b="b" t="t" l="l"/>
            <a:pathLst>
              <a:path h="628685" w="2501024">
                <a:moveTo>
                  <a:pt x="0" y="0"/>
                </a:moveTo>
                <a:lnTo>
                  <a:pt x="2501024" y="0"/>
                </a:lnTo>
                <a:lnTo>
                  <a:pt x="2501024" y="628686"/>
                </a:lnTo>
                <a:lnTo>
                  <a:pt x="0" y="628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529" t="-1600815" r="-400873" b="-53305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979874" y="8749101"/>
            <a:ext cx="2328252" cy="641379"/>
          </a:xfrm>
          <a:custGeom>
            <a:avLst/>
            <a:gdLst/>
            <a:ahLst/>
            <a:cxnLst/>
            <a:rect r="r" b="b" t="t" l="l"/>
            <a:pathLst>
              <a:path h="641379" w="2328252">
                <a:moveTo>
                  <a:pt x="0" y="0"/>
                </a:moveTo>
                <a:lnTo>
                  <a:pt x="2328252" y="0"/>
                </a:lnTo>
                <a:lnTo>
                  <a:pt x="2328252" y="641379"/>
                </a:lnTo>
                <a:lnTo>
                  <a:pt x="0" y="641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931" t="-1576134" r="-314379" b="-52532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633952" y="8769968"/>
            <a:ext cx="2137678" cy="599645"/>
          </a:xfrm>
          <a:custGeom>
            <a:avLst/>
            <a:gdLst/>
            <a:ahLst/>
            <a:cxnLst/>
            <a:rect r="r" b="b" t="t" l="l"/>
            <a:pathLst>
              <a:path h="599645" w="2137678">
                <a:moveTo>
                  <a:pt x="0" y="0"/>
                </a:moveTo>
                <a:lnTo>
                  <a:pt x="2137678" y="0"/>
                </a:lnTo>
                <a:lnTo>
                  <a:pt x="2137678" y="599645"/>
                </a:lnTo>
                <a:lnTo>
                  <a:pt x="0" y="599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4284" t="-1576134" r="-193084" b="-52532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189133" y="8707368"/>
            <a:ext cx="2961992" cy="641379"/>
          </a:xfrm>
          <a:custGeom>
            <a:avLst/>
            <a:gdLst/>
            <a:ahLst/>
            <a:cxnLst/>
            <a:rect r="r" b="b" t="t" l="l"/>
            <a:pathLst>
              <a:path h="641379" w="2961992">
                <a:moveTo>
                  <a:pt x="0" y="0"/>
                </a:moveTo>
                <a:lnTo>
                  <a:pt x="2961992" y="0"/>
                </a:lnTo>
                <a:lnTo>
                  <a:pt x="2961992" y="641378"/>
                </a:lnTo>
                <a:lnTo>
                  <a:pt x="0" y="641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3814" t="-1576134" r="-27663" b="-5253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254159" y="1733395"/>
            <a:ext cx="10880050" cy="3769708"/>
          </a:xfrm>
          <a:custGeom>
            <a:avLst/>
            <a:gdLst/>
            <a:ahLst/>
            <a:cxnLst/>
            <a:rect r="r" b="b" t="t" l="l"/>
            <a:pathLst>
              <a:path h="3769708" w="10880050">
                <a:moveTo>
                  <a:pt x="0" y="0"/>
                </a:moveTo>
                <a:lnTo>
                  <a:pt x="10880050" y="0"/>
                </a:lnTo>
                <a:lnTo>
                  <a:pt x="10880050" y="3769707"/>
                </a:lnTo>
                <a:lnTo>
                  <a:pt x="0" y="3769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20" t="-2094" r="-1440" b="-9678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47328" y="5707338"/>
            <a:ext cx="11974294" cy="3766430"/>
          </a:xfrm>
          <a:custGeom>
            <a:avLst/>
            <a:gdLst/>
            <a:ahLst/>
            <a:cxnLst/>
            <a:rect r="r" b="b" t="t" l="l"/>
            <a:pathLst>
              <a:path h="3766430" w="11974294">
                <a:moveTo>
                  <a:pt x="0" y="0"/>
                </a:moveTo>
                <a:lnTo>
                  <a:pt x="11974294" y="0"/>
                </a:lnTo>
                <a:lnTo>
                  <a:pt x="11974294" y="3766430"/>
                </a:lnTo>
                <a:lnTo>
                  <a:pt x="0" y="3766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1947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731880" y="5588619"/>
            <a:ext cx="6055193" cy="3945906"/>
          </a:xfrm>
          <a:custGeom>
            <a:avLst/>
            <a:gdLst/>
            <a:ahLst/>
            <a:cxnLst/>
            <a:rect r="r" b="b" t="t" l="l"/>
            <a:pathLst>
              <a:path h="3945906" w="6055193">
                <a:moveTo>
                  <a:pt x="0" y="0"/>
                </a:moveTo>
                <a:lnTo>
                  <a:pt x="6055193" y="0"/>
                </a:lnTo>
                <a:lnTo>
                  <a:pt x="6055193" y="3945906"/>
                </a:lnTo>
                <a:lnTo>
                  <a:pt x="0" y="3945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963" t="-92293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54144" y="1608422"/>
            <a:ext cx="5428550" cy="7923722"/>
          </a:xfrm>
          <a:custGeom>
            <a:avLst/>
            <a:gdLst/>
            <a:ahLst/>
            <a:cxnLst/>
            <a:rect r="r" b="b" t="t" l="l"/>
            <a:pathLst>
              <a:path h="7923722" w="5428550">
                <a:moveTo>
                  <a:pt x="0" y="0"/>
                </a:moveTo>
                <a:lnTo>
                  <a:pt x="5428551" y="0"/>
                </a:lnTo>
                <a:lnTo>
                  <a:pt x="5428551" y="7923722"/>
                </a:lnTo>
                <a:lnTo>
                  <a:pt x="0" y="79237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8945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672182" y="1608422"/>
            <a:ext cx="6114892" cy="3779329"/>
          </a:xfrm>
          <a:custGeom>
            <a:avLst/>
            <a:gdLst/>
            <a:ahLst/>
            <a:cxnLst/>
            <a:rect r="r" b="b" t="t" l="l"/>
            <a:pathLst>
              <a:path h="3779329" w="6114892">
                <a:moveTo>
                  <a:pt x="0" y="0"/>
                </a:moveTo>
                <a:lnTo>
                  <a:pt x="6114891" y="0"/>
                </a:lnTo>
                <a:lnTo>
                  <a:pt x="6114891" y="3779329"/>
                </a:lnTo>
                <a:lnTo>
                  <a:pt x="0" y="3779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674" t="0" r="-1678" b="-10640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-14626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77703" y="9808369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808369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095" y="228131"/>
            <a:ext cx="1751210" cy="1141737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99634" y="5216155"/>
            <a:ext cx="14088733" cy="496310"/>
          </a:xfrm>
          <a:custGeom>
            <a:avLst/>
            <a:gdLst/>
            <a:ahLst/>
            <a:cxnLst/>
            <a:rect r="r" b="b" t="t" l="l"/>
            <a:pathLst>
              <a:path h="496310" w="14088733">
                <a:moveTo>
                  <a:pt x="0" y="0"/>
                </a:moveTo>
                <a:lnTo>
                  <a:pt x="14088732" y="0"/>
                </a:lnTo>
                <a:lnTo>
                  <a:pt x="14088732" y="496311"/>
                </a:lnTo>
                <a:lnTo>
                  <a:pt x="0" y="496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2" t="-8609" r="-522" b="-1803642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144000" y="1595752"/>
            <a:ext cx="3740670" cy="3537269"/>
          </a:xfrm>
          <a:custGeom>
            <a:avLst/>
            <a:gdLst/>
            <a:ahLst/>
            <a:cxnLst/>
            <a:rect r="r" b="b" t="t" l="l"/>
            <a:pathLst>
              <a:path h="3537269" w="3740670">
                <a:moveTo>
                  <a:pt x="0" y="0"/>
                </a:moveTo>
                <a:lnTo>
                  <a:pt x="3740670" y="0"/>
                </a:lnTo>
                <a:lnTo>
                  <a:pt x="3740670" y="3537268"/>
                </a:lnTo>
                <a:lnTo>
                  <a:pt x="0" y="35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4986" t="-171552" r="-109288" b="-2051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218045" y="1699874"/>
            <a:ext cx="3667358" cy="3433147"/>
          </a:xfrm>
          <a:custGeom>
            <a:avLst/>
            <a:gdLst/>
            <a:ahLst/>
            <a:cxnLst/>
            <a:rect r="r" b="b" t="t" l="l"/>
            <a:pathLst>
              <a:path h="3433147" w="3667358">
                <a:moveTo>
                  <a:pt x="0" y="0"/>
                </a:moveTo>
                <a:lnTo>
                  <a:pt x="3667357" y="0"/>
                </a:lnTo>
                <a:lnTo>
                  <a:pt x="3667357" y="3433146"/>
                </a:lnTo>
                <a:lnTo>
                  <a:pt x="0" y="3433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2278" t="-171552" r="-7840" b="-2051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348883" y="1732734"/>
            <a:ext cx="3487218" cy="3367426"/>
          </a:xfrm>
          <a:custGeom>
            <a:avLst/>
            <a:gdLst/>
            <a:ahLst/>
            <a:cxnLst/>
            <a:rect r="r" b="b" t="t" l="l"/>
            <a:pathLst>
              <a:path h="3367426" w="3487218">
                <a:moveTo>
                  <a:pt x="0" y="0"/>
                </a:moveTo>
                <a:lnTo>
                  <a:pt x="3487218" y="0"/>
                </a:lnTo>
                <a:lnTo>
                  <a:pt x="3487218" y="3367426"/>
                </a:lnTo>
                <a:lnTo>
                  <a:pt x="0" y="3367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327" t="-171552" r="-213719" b="-20512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5369" y="1765594"/>
            <a:ext cx="3378979" cy="3367426"/>
          </a:xfrm>
          <a:custGeom>
            <a:avLst/>
            <a:gdLst/>
            <a:ahLst/>
            <a:cxnLst/>
            <a:rect r="r" b="b" t="t" l="l"/>
            <a:pathLst>
              <a:path h="3367426" w="3378979">
                <a:moveTo>
                  <a:pt x="0" y="0"/>
                </a:moveTo>
                <a:lnTo>
                  <a:pt x="3378980" y="0"/>
                </a:lnTo>
                <a:lnTo>
                  <a:pt x="3378980" y="3367426"/>
                </a:lnTo>
                <a:lnTo>
                  <a:pt x="0" y="3367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46" t="-171552" r="-328252" b="-2051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844597" y="5712466"/>
            <a:ext cx="2032305" cy="3727193"/>
          </a:xfrm>
          <a:custGeom>
            <a:avLst/>
            <a:gdLst/>
            <a:ahLst/>
            <a:cxnLst/>
            <a:rect r="r" b="b" t="t" l="l"/>
            <a:pathLst>
              <a:path h="3727193" w="2032305">
                <a:moveTo>
                  <a:pt x="0" y="0"/>
                </a:moveTo>
                <a:lnTo>
                  <a:pt x="2032306" y="0"/>
                </a:lnTo>
                <a:lnTo>
                  <a:pt x="2032306" y="3727192"/>
                </a:lnTo>
                <a:lnTo>
                  <a:pt x="0" y="3727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35" t="-17495" r="-508476" b="-109556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006375" y="5712466"/>
            <a:ext cx="1863801" cy="3802976"/>
          </a:xfrm>
          <a:custGeom>
            <a:avLst/>
            <a:gdLst/>
            <a:ahLst/>
            <a:cxnLst/>
            <a:rect r="r" b="b" t="t" l="l"/>
            <a:pathLst>
              <a:path h="3802976" w="1863801">
                <a:moveTo>
                  <a:pt x="0" y="0"/>
                </a:moveTo>
                <a:lnTo>
                  <a:pt x="1863800" y="0"/>
                </a:lnTo>
                <a:lnTo>
                  <a:pt x="1863800" y="3802975"/>
                </a:lnTo>
                <a:lnTo>
                  <a:pt x="0" y="380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0541" t="-17147" r="-340541" b="-10538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52048" y="5712466"/>
            <a:ext cx="1970134" cy="3727193"/>
          </a:xfrm>
          <a:custGeom>
            <a:avLst/>
            <a:gdLst/>
            <a:ahLst/>
            <a:cxnLst/>
            <a:rect r="r" b="b" t="t" l="l"/>
            <a:pathLst>
              <a:path h="3727193" w="1970134">
                <a:moveTo>
                  <a:pt x="0" y="0"/>
                </a:moveTo>
                <a:lnTo>
                  <a:pt x="1970133" y="0"/>
                </a:lnTo>
                <a:lnTo>
                  <a:pt x="1970133" y="3727192"/>
                </a:lnTo>
                <a:lnTo>
                  <a:pt x="0" y="3727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5354" t="-17495" r="-118968" b="-109556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43628" y="5712466"/>
            <a:ext cx="2010511" cy="3727193"/>
          </a:xfrm>
          <a:custGeom>
            <a:avLst/>
            <a:gdLst/>
            <a:ahLst/>
            <a:cxnLst/>
            <a:rect r="r" b="b" t="t" l="l"/>
            <a:pathLst>
              <a:path h="3727193" w="2010511">
                <a:moveTo>
                  <a:pt x="0" y="0"/>
                </a:moveTo>
                <a:lnTo>
                  <a:pt x="2010510" y="0"/>
                </a:lnTo>
                <a:lnTo>
                  <a:pt x="2010510" y="3727192"/>
                </a:lnTo>
                <a:lnTo>
                  <a:pt x="0" y="3727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7394" t="-17495" r="-413988" b="-109556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340926" y="5712466"/>
            <a:ext cx="2033035" cy="3802976"/>
          </a:xfrm>
          <a:custGeom>
            <a:avLst/>
            <a:gdLst/>
            <a:ahLst/>
            <a:cxnLst/>
            <a:rect r="r" b="b" t="t" l="l"/>
            <a:pathLst>
              <a:path h="3802976" w="2033035">
                <a:moveTo>
                  <a:pt x="0" y="0"/>
                </a:moveTo>
                <a:lnTo>
                  <a:pt x="2033035" y="0"/>
                </a:lnTo>
                <a:lnTo>
                  <a:pt x="2033035" y="3802975"/>
                </a:lnTo>
                <a:lnTo>
                  <a:pt x="0" y="380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2193" t="-17147" r="-212193" b="-10538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940645" y="5712466"/>
            <a:ext cx="1941316" cy="3727193"/>
          </a:xfrm>
          <a:custGeom>
            <a:avLst/>
            <a:gdLst/>
            <a:ahLst/>
            <a:cxnLst/>
            <a:rect r="r" b="b" t="t" l="l"/>
            <a:pathLst>
              <a:path h="3727193" w="1941316">
                <a:moveTo>
                  <a:pt x="0" y="0"/>
                </a:moveTo>
                <a:lnTo>
                  <a:pt x="1941316" y="0"/>
                </a:lnTo>
                <a:lnTo>
                  <a:pt x="1941316" y="3727192"/>
                </a:lnTo>
                <a:lnTo>
                  <a:pt x="0" y="3727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5194" t="-17495" r="-18692" b="-10955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0" y="2131897"/>
            <a:ext cx="18288000" cy="733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Detecting Oil Spills at Marine Environment Using AIS and Satellite Datasets (2025) -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 tooltip="https://computersciencejournal.org/wp-content/uploads/10-JCS1684.pdf"/>
              </a:rPr>
              <a:t>Paper PDF</a:t>
            </a: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Novel Deep Learning Method for Marine Oil Spill Detection from Satellite SAR Imagery (2022) -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 tooltip="https://www.sciencedirect.com/science/article/abs/pii/S0025326X22003484"/>
              </a:rPr>
              <a:t>ScienceDirect</a:t>
            </a: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Exploiting AIS Data for Intelligent Maritime Navigation: A Comprehensive Survey (2018) -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doi.org/10.1109/TITS.2017.2724551"/>
              </a:rPr>
              <a:t>IEEE DOI</a:t>
            </a: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Oil Spill Identification from Satellite Images Using Deep Neural Networks (2019) -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www.mdpi.com/2072-4292/11/15/1762"/>
              </a:rPr>
              <a:t>MDPI / Remote Sensing</a:t>
            </a: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OpenDrift : A Generic Framework for Trajectory Modelling -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opendrift.github.io"/>
              </a:rPr>
              <a:t>opendrift.github</a:t>
            </a: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3641"/>
              </a:lnSpc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algn="just">
              <a:lnSpc>
                <a:spcPts val="3641"/>
              </a:lnSpc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b="true" sz="3034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Sources: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Copernicus Sentinel-1 &amp; Sentinel-2 — ESA -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 tooltip="https://www.esa.int/Applications/Observing_the_Earth/Copernicus"/>
              </a:rPr>
              <a:t>Copernicus / ESA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Earth Engine —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 tooltip="https://earthengine.google.com"/>
              </a:rPr>
              <a:t>Google Earth Engine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Copernicus Marine Service — Ocean Currents &amp; Environmental Data —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 tooltip="https://marine.copernicus.eu"/>
              </a:rPr>
              <a:t>Copernicus Marine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AISHub — AIS Vessel Data —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 tooltip="https://www.aishub.net"/>
              </a:rPr>
              <a:t>AISHub</a:t>
            </a:r>
          </a:p>
          <a:p>
            <a:pPr algn="just" marL="549118" indent="-274559" lvl="1">
              <a:lnSpc>
                <a:spcPts val="3641"/>
              </a:lnSpc>
              <a:buFont typeface="Arial"/>
              <a:buChar char="•"/>
            </a:pPr>
            <a:r>
              <a:rPr lang="en-US" sz="30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MarineTraffic — AIS &amp; Vessel Tracking — </a:t>
            </a:r>
            <a:r>
              <a:rPr lang="en-US" sz="3034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3" tooltip="https://www.marinetraffic.com"/>
              </a:rPr>
              <a:t>MarineTraffic</a:t>
            </a:r>
          </a:p>
          <a:p>
            <a:pPr algn="just">
              <a:lnSpc>
                <a:spcPts val="3641"/>
              </a:lnSpc>
            </a:pPr>
          </a:p>
          <a:p>
            <a:pPr algn="just">
              <a:lnSpc>
                <a:spcPts val="364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Bytecoders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81501" y="17774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DAHTCqAwaZ4</dc:identifier>
  <dcterms:modified xsi:type="dcterms:W3CDTF">2011-08-01T06:04:30Z</dcterms:modified>
  <cp:revision>1</cp:revision>
  <dc:title>SIH-Oil-Spill-Idea.pptx</dc:title>
</cp:coreProperties>
</file>