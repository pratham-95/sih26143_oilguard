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8288000" cy="10287000"/>
  <p:notesSz cx="6858000" cy="9144000"/>
  <p:embeddedFontLst>
    <p:embeddedFont>
      <p:font typeface="Arimo" panose="020B0604020202020204" charset="0"/>
      <p:regular r:id="rId5"/>
    </p:embeddedFont>
    <p:embeddedFont>
      <p:font typeface="Arimo Bold" panose="020B0604020202020204" charset="0"/>
      <p:regular r:id="rId6"/>
    </p:embeddedFont>
    <p:embeddedFont>
      <p:font typeface="Calibri (MS)" panose="020B0604020202020204" charset="0"/>
      <p:regular r:id="rId7"/>
    </p:embeddedFont>
    <p:embeddedFont>
      <p:font typeface="Segoe UI" panose="020B0502040204020203" pitchFamily="34" charset="0"/>
      <p:regular r:id="rId8"/>
      <p:bold r:id="rId9"/>
      <p:italic r:id="rId10"/>
      <p:boldItalic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14" autoAdjust="0"/>
    <p:restoredTop sz="94622" autoAdjust="0"/>
  </p:normalViewPr>
  <p:slideViewPr>
    <p:cSldViewPr>
      <p:cViewPr varScale="1">
        <p:scale>
          <a:sx n="29" d="100"/>
          <a:sy n="29" d="100"/>
        </p:scale>
        <p:origin x="72" y="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ingh" userId="342123610e89ff7a" providerId="LiveId" clId="{2C41C64F-DF75-42CC-B598-01D4397E61AF}"/>
    <pc:docChg chg="delSld">
      <pc:chgData name="Nikhil singh" userId="342123610e89ff7a" providerId="LiveId" clId="{2C41C64F-DF75-42CC-B598-01D4397E61AF}" dt="2026-08-23T09:23:56.978" v="3" actId="47"/>
      <pc:docMkLst>
        <pc:docMk/>
      </pc:docMkLst>
      <pc:sldChg chg="del">
        <pc:chgData name="Nikhil singh" userId="342123610e89ff7a" providerId="LiveId" clId="{2C41C64F-DF75-42CC-B598-01D4397E61AF}" dt="2026-08-23T09:23:08.377" v="0" actId="47"/>
        <pc:sldMkLst>
          <pc:docMk/>
          <pc:sldMk cId="0" sldId="256"/>
        </pc:sldMkLst>
      </pc:sldChg>
      <pc:sldChg chg="del">
        <pc:chgData name="Nikhil singh" userId="342123610e89ff7a" providerId="LiveId" clId="{2C41C64F-DF75-42CC-B598-01D4397E61AF}" dt="2026-08-23T09:23:56.978" v="3" actId="47"/>
        <pc:sldMkLst>
          <pc:docMk/>
          <pc:sldMk cId="0" sldId="259"/>
        </pc:sldMkLst>
      </pc:sldChg>
      <pc:sldChg chg="del">
        <pc:chgData name="Nikhil singh" userId="342123610e89ff7a" providerId="LiveId" clId="{2C41C64F-DF75-42CC-B598-01D4397E61AF}" dt="2026-08-23T09:23:51.307" v="2" actId="47"/>
        <pc:sldMkLst>
          <pc:docMk/>
          <pc:sldMk cId="0" sldId="260"/>
        </pc:sldMkLst>
      </pc:sldChg>
      <pc:sldChg chg="del">
        <pc:chgData name="Nikhil singh" userId="342123610e89ff7a" providerId="LiveId" clId="{2C41C64F-DF75-42CC-B598-01D4397E61AF}" dt="2026-08-23T09:23:39.910" v="1" actId="47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73976" y="42002"/>
            <a:ext cx="12239524" cy="681092"/>
            <a:chOff x="0" y="0"/>
            <a:chExt cx="16945585" cy="9429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45578" cy="942969"/>
            </a:xfrm>
            <a:custGeom>
              <a:avLst/>
              <a:gdLst/>
              <a:ahLst/>
              <a:cxnLst/>
              <a:rect l="l" t="t" r="r" b="b"/>
              <a:pathLst>
                <a:path w="16945578" h="942969">
                  <a:moveTo>
                    <a:pt x="0" y="0"/>
                  </a:moveTo>
                  <a:lnTo>
                    <a:pt x="16945578" y="0"/>
                  </a:lnTo>
                  <a:lnTo>
                    <a:pt x="16945578" y="942969"/>
                  </a:lnTo>
                  <a:lnTo>
                    <a:pt x="0" y="942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403" r="5580" b="-35182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6945585" cy="962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Satellite–AIS Fusion for Oil Spill Detection &amp; Vessel Attribution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9" name="TextBox 18"/>
          <p:cNvSpPr txBox="1"/>
          <p:nvPr/>
        </p:nvSpPr>
        <p:spPr>
          <a:xfrm>
            <a:off x="640080" y="1645920"/>
            <a:ext cx="17007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Segoe UI"/>
              </a:rPr>
              <a:t>• India: 7,500 km coastline, ~75% of oil arrives by sea — zero automated spill-source attribution today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34155"/>
                </a:solidFill>
                <a:latin typeface="Segoe UI"/>
              </a:rPr>
              <a:t>• Ennore 2017: two ships, 251 tonnes spilled, years of litigation — culprit identification was manual guesswork</a:t>
            </a:r>
          </a:p>
        </p:txBody>
      </p:sp>
      <p:sp>
        <p:nvSpPr>
          <p:cNvPr id="20" name="Chevron 19"/>
          <p:cNvSpPr/>
          <p:nvPr/>
        </p:nvSpPr>
        <p:spPr>
          <a:xfrm>
            <a:off x="640080" y="3246120"/>
            <a:ext cx="4480560" cy="1783080"/>
          </a:xfrm>
          <a:prstGeom prst="chevron">
            <a:avLst/>
          </a:prstGeom>
          <a:solidFill>
            <a:srgbClr val="1E40A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 · DETECT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U-Net finds slick polygons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in Sentinel-1 SAR</a:t>
            </a:r>
          </a:p>
        </p:txBody>
      </p:sp>
      <p:sp>
        <p:nvSpPr>
          <p:cNvPr id="21" name="Chevron 20"/>
          <p:cNvSpPr/>
          <p:nvPr/>
        </p:nvSpPr>
        <p:spPr>
          <a:xfrm>
            <a:off x="4919472" y="3246120"/>
            <a:ext cx="4480560" cy="1783080"/>
          </a:xfrm>
          <a:prstGeom prst="chevron">
            <a:avLst/>
          </a:prstGeom>
          <a:solidFill>
            <a:srgbClr val="0F766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 · REWIND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OpenDrift runs ocean physics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backwards to origin zone</a:t>
            </a:r>
          </a:p>
        </p:txBody>
      </p:sp>
      <p:sp>
        <p:nvSpPr>
          <p:cNvPr id="22" name="Chevron 21"/>
          <p:cNvSpPr/>
          <p:nvPr/>
        </p:nvSpPr>
        <p:spPr>
          <a:xfrm>
            <a:off x="9198863" y="3246120"/>
            <a:ext cx="4480560" cy="1783080"/>
          </a:xfrm>
          <a:prstGeom prst="chevron">
            <a:avLst/>
          </a:prstGeom>
          <a:solidFill>
            <a:srgbClr val="6D28D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 · ATTRIBUTE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AIS tracks cross-scored: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proximity · heading · dark-window</a:t>
            </a:r>
          </a:p>
        </p:txBody>
      </p:sp>
      <p:sp>
        <p:nvSpPr>
          <p:cNvPr id="23" name="Chevron 22"/>
          <p:cNvSpPr/>
          <p:nvPr/>
        </p:nvSpPr>
        <p:spPr>
          <a:xfrm>
            <a:off x="13478255" y="3246120"/>
            <a:ext cx="4480560" cy="1783080"/>
          </a:xfrm>
          <a:prstGeom prst="chevron">
            <a:avLst/>
          </a:prstGeom>
          <a:solidFill>
            <a:srgbClr val="16653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 · PROVE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Ranked suspect dossier</a:t>
            </a:r>
          </a:p>
          <a:p>
            <a:pPr algn="ctr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with confidence %, court-ready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378440" cy="3794760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 w="222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600" b="1">
                <a:solidFill>
                  <a:srgbClr val="92400E"/>
                </a:solidFill>
                <a:latin typeface="Segoe UI"/>
              </a:rPr>
              <a:t>WHY NOBODY ELSE HAS THIS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Only pipeline that reasons BACKWARDS in time from slick physics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Catches "dark vessels" that switched AIS off during the spill window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EU's CleanSeaNet needs analysts; ours runs end-to-end automatically &amp; open-source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India-first: sovereign capability instead of foreign service dependency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38560" y="5532120"/>
            <a:ext cx="6309360" cy="379476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 w="2222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532D"/>
                </a:solidFill>
                <a:latin typeface="Segoe UI"/>
              </a:rPr>
              <a:t>OUTCOME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14532D"/>
                </a:solidFill>
                <a:latin typeface="Segoe UI"/>
              </a:rPr>
              <a:t>Anonymous slick → ranked suspect list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14532D"/>
                </a:solidFill>
                <a:latin typeface="Segoe UI"/>
              </a:rPr>
              <a:t>in under 30 minutes</a:t>
            </a:r>
          </a:p>
          <a:p>
            <a:pPr algn="ctr">
              <a:spcBef>
                <a:spcPts val="1000"/>
              </a:spcBef>
            </a:pPr>
            <a:r>
              <a:rPr sz="1200" b="0">
                <a:solidFill>
                  <a:srgbClr val="334155"/>
                </a:solidFill>
                <a:latin typeface="Segoe UI"/>
              </a:rPr>
              <a:t>with quantified uncertainty — not guesses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7"/>
          <p:cNvSpPr txBox="1"/>
          <p:nvPr/>
        </p:nvSpPr>
        <p:spPr>
          <a:xfrm>
            <a:off x="521207" y="12070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STAGE A · DETECT — FIND THE SLICK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6758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STAGE B · REWIND — OCEAN PHYSICS IN REVERSE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61447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STAGE C · ATTRIBUTE → PROVE — NAME THE SHIP</a:t>
            </a:r>
          </a:p>
        </p:txBody>
      </p:sp>
      <p:pic>
        <p:nvPicPr>
          <p:cNvPr id="21" name="Picture 20" descr="s3_sat_s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81328"/>
            <a:ext cx="3749039" cy="22402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526280" y="1481328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222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E3A8A"/>
                </a:solidFill>
                <a:latin typeface="Segoe UI"/>
              </a:rPr>
              <a:t>PREPROCESS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IW GRD VV+VH · 10 m resolution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orbit revisit 6–12 days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Lee speckle filter + land mask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481328"/>
            <a:ext cx="4572000" cy="224028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22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15E59"/>
                </a:solidFill>
                <a:latin typeface="Segoe UI"/>
              </a:rPr>
              <a:t>U-NET SEGMENTATION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trained on Zenodo Parts I–III (~3,500 scenes)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classes: slick · ship wake · biogenic · rain · low-wind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dual-pol features kill look-alikes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487400" y="1481328"/>
            <a:ext cx="4297680" cy="224028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22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15E59"/>
                </a:solidFill>
                <a:latin typeface="Segoe UI"/>
              </a:rPr>
              <a:t>SLICK POLYGONS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GeoJSON polygon + confidence mask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area · perimeter · shape index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backscatter statistics attached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36372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36372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0200" y="236372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pic>
        <p:nvPicPr>
          <p:cNvPr id="28" name="Picture 27" descr="s3_drift_rew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50208"/>
            <a:ext cx="3749039" cy="22402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526280" y="3950208"/>
            <a:ext cx="4572000" cy="224028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222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5B21B6"/>
                </a:solidFill>
                <a:latin typeface="Segoe UI"/>
              </a:rPr>
              <a:t>OPEN DRIFT · BACKWARD HINDCAST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OpenOil ensemble ×100 virtual particles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forcing: CMEMS currents + ERA5 winds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wind drift 1–6% · Ekman angle · Stokes drift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3950208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222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5B21B6"/>
                </a:solidFill>
                <a:latin typeface="Segoe UI"/>
              </a:rPr>
              <a:t>ORIGIN PROBABILITY MAP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PDF over sea surface — never a single guess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hindcast window 2–12 h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uncertainty reported, not hidden</a:t>
            </a:r>
          </a:p>
        </p:txBody>
      </p:sp>
      <p:pic>
        <p:nvPicPr>
          <p:cNvPr id="31" name="Picture 30" descr="s3_heatmap_min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87400" y="3950208"/>
            <a:ext cx="4297680" cy="2240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0" y="483260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83260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30200" y="4832604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pic>
        <p:nvPicPr>
          <p:cNvPr id="35" name="Picture 34" descr="s3_ais_fus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419088"/>
            <a:ext cx="3749039" cy="224028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526280" y="6419088"/>
            <a:ext cx="4572000" cy="22402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222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92400E"/>
                </a:solidFill>
                <a:latin typeface="Segoe UI"/>
              </a:rPr>
              <a:t>AIS FUSION SCORING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proximity to origin mode .40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trajectory bearing match .25 · anomaly .15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AIS dark-window during spill .20</a:t>
            </a:r>
          </a:p>
        </p:txBody>
      </p:sp>
      <p:pic>
        <p:nvPicPr>
          <p:cNvPr id="37" name="Picture 36" descr="s3_dossier_m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6419088"/>
            <a:ext cx="3657600" cy="22402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3487400" y="6419088"/>
            <a:ext cx="4297680" cy="2240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222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4532D"/>
                </a:solidFill>
                <a:latin typeface="Segoe UI"/>
              </a:rPr>
              <a:t>OUTPUTS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dashboard map overlay · ranked suspects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court-ready PDF case-file + GeoJSON export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334155"/>
                </a:solidFill>
                <a:latin typeface="Segoe UI"/>
              </a:rPr>
              <a:t>&lt; 5 min inference per scene, Colab-class GPU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7301483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7301483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0200" y="7301483"/>
            <a:ext cx="548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Segoe UI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8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PyTorch · smp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89020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FastAPI · MongoDB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React · Leaflet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76004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OpenDrift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969496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CMEMS · ERA5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762988" y="8887968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MarineCadastre 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</Words>
  <Application>Microsoft Office PowerPoint</Application>
  <PresentationFormat>Custom</PresentationFormat>
  <Paragraphs>83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Arimo</vt:lpstr>
      <vt:lpstr>Arimo Bold</vt:lpstr>
      <vt:lpstr>Arial</vt:lpstr>
      <vt:lpstr>Times New Roman Bold</vt:lpstr>
      <vt:lpstr>Calibri (MS)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SIH-Oil-Spill-Idea.pptx</dc:title>
  <cp:lastModifiedBy>Nikhil singh</cp:lastModifiedBy>
  <cp:revision>1</cp:revision>
  <dcterms:created xsi:type="dcterms:W3CDTF">2006-08-16T00:00:00Z</dcterms:created>
  <dcterms:modified xsi:type="dcterms:W3CDTF">2026-08-23T09:23:58Z</dcterms:modified>
  <dc:identifier>DAHTCqAwaZ4</dc:identifier>
</cp:coreProperties>
</file>